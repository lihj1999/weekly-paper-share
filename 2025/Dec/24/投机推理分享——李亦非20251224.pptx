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3"/>
  </p:sldMasterIdLst>
  <p:notesMasterIdLst>
    <p:notesMasterId r:id="rId5"/>
  </p:notesMasterIdLst>
  <p:handoutMasterIdLst>
    <p:handoutMasterId r:id="rId23"/>
  </p:handoutMasterIdLst>
  <p:sldIdLst>
    <p:sldId id="773" r:id="rId4"/>
    <p:sldId id="776" r:id="rId6"/>
    <p:sldId id="806" r:id="rId7"/>
    <p:sldId id="807" r:id="rId8"/>
    <p:sldId id="808" r:id="rId9"/>
    <p:sldId id="810" r:id="rId10"/>
    <p:sldId id="812" r:id="rId11"/>
    <p:sldId id="814" r:id="rId12"/>
    <p:sldId id="816" r:id="rId13"/>
    <p:sldId id="824" r:id="rId14"/>
    <p:sldId id="825" r:id="rId15"/>
    <p:sldId id="826" r:id="rId16"/>
    <p:sldId id="827" r:id="rId17"/>
    <p:sldId id="828" r:id="rId18"/>
    <p:sldId id="829" r:id="rId19"/>
    <p:sldId id="830" r:id="rId20"/>
    <p:sldId id="831" r:id="rId21"/>
    <p:sldId id="803" r:id="rId22"/>
  </p:sldIdLst>
  <p:sldSz cx="12196445" cy="6858000"/>
  <p:notesSz cx="6858000" cy="9144000"/>
  <p:defaultTextStyle>
    <a:defPPr>
      <a:defRPr lang="zh-CN"/>
    </a:defPPr>
    <a:lvl1pPr marL="0" lvl="0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9pPr>
  </p:defaultTextStyle>
  <p:extLst>
    <p:ext uri="{EFAFB233-063F-42B5-8137-9DF3F51BA10A}">
      <p15:sldGuideLst xmlns:p15="http://schemas.microsoft.com/office/powerpoint/2012/main">
        <p15:guide id="1" orient="horz" pos="2188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uo Huishi" initials="LH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8F8"/>
    <a:srgbClr val="113E6A"/>
    <a:srgbClr val="006BBC"/>
    <a:srgbClr val="363636"/>
    <a:srgbClr val="FAFAFA"/>
    <a:srgbClr val="0F3D68"/>
    <a:srgbClr val="003366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477" autoAdjust="0"/>
    <p:restoredTop sz="94660"/>
  </p:normalViewPr>
  <p:slideViewPr>
    <p:cSldViewPr snapToObjects="1" showGuides="1">
      <p:cViewPr varScale="1">
        <p:scale>
          <a:sx n="58" d="100"/>
          <a:sy n="58" d="100"/>
        </p:scale>
        <p:origin x="738" y="66"/>
      </p:cViewPr>
      <p:guideLst>
        <p:guide orient="horz" pos="2188"/>
        <p:guide pos="384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7" Type="http://schemas.openxmlformats.org/officeDocument/2006/relationships/commentAuthors" Target="commentAuthors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handoutMaster" Target="handoutMasters/handoutMaster1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4" name="Rectangle 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algn="r" fontAlgn="base">
              <a:buChar char="•"/>
            </a:pPr>
            <a:fld id="{9A0DB2DC-4C9A-4742-B13C-FB6460FD3503}" type="slidenum">
              <a:rPr lang="zh-CN" altLang="en-US" sz="12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7170" name="文本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ctr"/>
          <a:lstStyle/>
          <a:p>
            <a:pPr lvl="0"/>
            <a:r>
              <a:rPr lang="zh-CN" altLang="en-US" dirty="0"/>
              <a:t>亮亮图文旗舰店</a:t>
            </a:r>
            <a:endParaRPr lang="zh-CN" altLang="en-US" dirty="0"/>
          </a:p>
          <a:p>
            <a:pPr lvl="0"/>
            <a:r>
              <a:rPr lang="en-US" altLang="zh-CN" dirty="0"/>
              <a:t>https://liangliangtuwen.tmall.com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大模型平时生成文字，是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写一个字、算一次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的自回归模式，像左边这张图，每出一个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Token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就得调用一次大模型，效率特别低。</a:t>
            </a:r>
            <a:endParaRPr lang="zh-CN" altLang="en-US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那投机推理咋解决？它搞了个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分工协作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：找个小而快的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草稿模型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先快速生成一串候选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Token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，再让准而慢的目标大模型一次性并行验证这些候选。</a:t>
            </a:r>
            <a:endParaRPr lang="zh-CN" altLang="en-US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就像右边流程图：草稿模型先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快速打草稿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出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k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个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Token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，接着目标大模型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批量验稿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”——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对的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Token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直接留用，错的就停在这儿，然后从正确位置继续生成。这么一来，原本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1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次大模型计算只能出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1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个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Token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，现在能出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k+1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个，直接把生成效率拉上去了！</a:t>
            </a:r>
            <a:endParaRPr lang="zh-CN" altLang="en-US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简单说，投机推理就是让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小快模型打草稿、大准模型做质检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，用一次大模型计算换一串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Token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，既保质量又提速度，是大模型落地提速的关键方法之一。</a:t>
            </a:r>
            <a:endParaRPr lang="zh-CN" altLang="en-US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咱们接着看投机推理的具体实现流程，其实就三步，特别清晰～</a:t>
            </a:r>
            <a:endParaRPr lang="zh-CN" altLang="en-US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首先第一步是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打草稿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：让小而快的草稿模型先生成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k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个候选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Token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，相当于先快速出个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初稿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。</a:t>
            </a:r>
            <a:endParaRPr lang="zh-CN" altLang="en-US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接下来是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批量验算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：目标大模型只需要做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1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次前向传播，就能输出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原上下文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+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这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k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个候选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Token”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对应的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k+1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个位置的概率分布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——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这步特别妙，用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1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次大模型计算，就把所有候选的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质量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都验了。</a:t>
            </a:r>
            <a:endParaRPr lang="zh-CN" altLang="en-US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最后是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判断留舍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：从左到右挨个看这些候选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Token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：如果大模型给它的概率比草稿模型高，直接接受，继续看下一个；要是概率更低，就按一定概率决定接不接，一旦拒绝就立刻停下。</a:t>
            </a:r>
            <a:endParaRPr lang="zh-CN" altLang="en-US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结果也很直观：要是所有候选都通过，等于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白嫖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了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k+1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个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Token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，效率直接拉满；要是中间有拒绝，就在拒绝的位置重新采样，生成最终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Token——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既保了大模型的精度，又省了计算量。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咱们拿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生成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‘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我喜欢吃苹果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’”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这个例子，直观感受下投机推理的提速效果～</a:t>
            </a:r>
            <a:endParaRPr lang="zh-CN" altLang="en-US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先对比传统模式：要生成这句话得算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5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次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——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每出一个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Token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，大模型就得跑一次，效率特别低。</a:t>
            </a:r>
            <a:endParaRPr lang="zh-CN" altLang="en-US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但投机推理是这么玩的：第一步，草稿模型先基于开头的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我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，快速猜出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喜欢吃香蕉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这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4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个候选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Token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，相当于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1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秒出个初稿；第二步，大模型只做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1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次验证，就发现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喜欢吃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是合理的，但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香蕉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不对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——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它更倾向用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苹果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；第三步，咱们直接接受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喜欢吃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这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3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个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Token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，退到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吃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后面，让大模型从这儿生成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苹果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就行。</a:t>
            </a:r>
            <a:endParaRPr lang="zh-CN" altLang="en-US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你看，传统要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5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次计算，现在大模型只跑了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2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次（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1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次验证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+ 1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次生成），效率直接翻了倍还多～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先讲底层逻辑：大模型的并行验证是怎么实现的？传统自回归是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生成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1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个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Token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，大模型跑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1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次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，因为每一步都要重新算上下文；但投机推理里有个关键技巧叫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“KV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缓存复用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”——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大模型处理文本时，会把之前的上下文信息存在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“KV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缓存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里，相当于记了本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笔记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。当草稿模型生成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k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个候选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Token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后，大模型不用重新算每个候选的上下文，直接把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原上下文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+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这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k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个候选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一起输入，复用之前的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KV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缓存，一次前向传播就能算出这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k+1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个位置的概率分布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——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等于大模型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看了一眼笔记，一次性把所有候选的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‘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对错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’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都判了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，这就是并行验证的核心。</a:t>
            </a:r>
            <a:endParaRPr lang="zh-CN" altLang="en-US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endParaRPr lang="zh-CN" altLang="en-US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然后咱们看小模型和大模型的效率差具体是多少（拿实际测的数值举例）：比如选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qwen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系列：小模型用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0.6B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参数的版本，推理速度能到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50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个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Token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每秒，生成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4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个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Token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只需要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0.08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秒，几乎可以忽略；而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8B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的大模型，推理速度只有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5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个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Token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每秒，生成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1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个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Token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就要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0.2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秒。</a:t>
            </a:r>
            <a:endParaRPr lang="zh-CN" altLang="en-US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最后算个实际提升的例子：假设草稿模型生成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4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个候选（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k=4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）：</a:t>
            </a:r>
            <a:endParaRPr lang="zh-CN" altLang="en-US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传统自回归生成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5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个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Token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，得调用大模型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5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次，总耗时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5</a:t>
            </a:r>
            <a:r>
              <a:rPr lang="en-US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×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0.8=4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秒；</a:t>
            </a:r>
            <a:endParaRPr lang="zh-CN" altLang="en-US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投机推理是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小模型生成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4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个候选（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0.08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秒）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+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大模型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1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次验证（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0.8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秒）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，总耗时才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0.88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秒；</a:t>
            </a:r>
            <a:endParaRPr lang="zh-CN" altLang="en-US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相当于效率直接提升了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4.5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倍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——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这就是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小模型省时间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+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大模型一次干多活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的叠加效果。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咱们接着往下聊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——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刚才用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我喜欢吃苹果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的例子，大家应该感受到了投机推理的提速，但肯定会好奇：速度上去了，输出的准确率会不会垮？还有这速度到底是咋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省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出来的？这页咱们就把这两个核心问题讲透。</a:t>
            </a:r>
            <a:endParaRPr lang="zh-CN" altLang="en-US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先看第一个关键点：准确率，是稳得住的，甚至不会下降。为啥这么说？大家可以放心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——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投机推理里，最终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拍板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的还是目标大模型自己的判断逻辑。草稿模型只是个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快速提案员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，它生成的候选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Token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，最终要不要留，是大模型用自己训练出来的概率分布来验证的。哪怕遇到最极端的情况：草稿模型生成的候选全不对，大模型就会把这些候选全打回，自己一个一个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Token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慢慢生成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——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这其实就退化成了传统的自回归解码，准确率和原来一模一样，不会更差。等于说，投机推理最差也就是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不提速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，但绝对不会让输出质量打折。</a:t>
            </a:r>
            <a:endParaRPr lang="zh-CN" altLang="en-US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再来看第二个核心：速度是怎么实现这么明显的优化的？这里藏着三个关键逻辑。第一，草稿模型的耗时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可以忽略不计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。草稿模型本身是小模型，跑起来又快又轻量，它生成一串候选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Token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的时间，和大模型跑一次的时间比起来，就像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喝口水的功夫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，几乎不会增加总时长。第二，大模型能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一次干多活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，靠的是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KV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缓存的复用。大家可以把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KV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缓存理解成大模型的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笔记本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”——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它处理上下文的时候，会把之前的信息存在这个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笔记本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里。投机推理验证候选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Token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时，不用重新计算每个候选对应的上下文，直接复用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笔记本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里的历史信息，并行处理这一串候选。相当于大模型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记了一次笔记，用了好几次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，一次前向传播就能算出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k+1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个位置的概率，不用像传统模式那样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算一个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Token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，记一次笔记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，效率直接翻了倍。第三，速度提升的效果，其实看草稿模型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猜得准不准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。如果草稿模型猜的候选，大部分都和大模型的思路一致，那大模型一次能接很多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Token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，速度就飞快；但要是草稿模型猜得全错，大模型不仅要花时间验证，还得重新生成，这时候效率反而会比传统模式低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——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所以，选一个和目标大模型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思路契合度高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的草稿模型，是把提速效果拉满的关键。</a:t>
            </a:r>
            <a:endParaRPr lang="zh-CN" altLang="en-US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最后咱们看这张图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——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最底下的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“Base”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是传统解码，耗时最长；中间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“γ=3”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是投机推理一次猜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3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个候选，耗时明显缩短；最上面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“γ=7”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是一次猜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7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个候选，耗时更短。从图里能直观看到：投机推理的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候选数量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γ”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越大（同时草稿模型猜得准），整体耗时就越短，速度提升越显著。</a:t>
            </a:r>
            <a:endParaRPr lang="zh-CN" altLang="en-US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总结一下这页的核心：投机推理是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提速不丢准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的双赢方案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——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准确率靠大模型自己把关稳得住，速度靠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草稿模型省时间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+ KV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缓存复用提效率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实现；而能不能把效果拉满，关键在选对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懂大模型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的草稿模型。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咱们上一页刚聊到：投机推理的效率，其实是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绑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在草稿模型的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猜题准确率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上的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——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草稿模型猜得越准，大模型省的功夫就越多，整体速度才能真正提上去。所以这一页，咱们就聚焦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怎么选草稿模型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这个核心问题。</a:t>
            </a:r>
            <a:endParaRPr lang="zh-CN" altLang="en-US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目前行业里选草稿模型，主要是三种主流思路：第一种，直接用现成的轻量小模型，比如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Qwen-0.6B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这类公开的小参数模型。好处是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拿来就能用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，不用额外花训练成本；但缺点也很直接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——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现成模型的生成思路，和咱们自己的目标大模型不一定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对味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，准确率可能没那么理想。第二种，自己训练专属的草稿模型，有点像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模型蒸馏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：把目标大模型的知识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浓缩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到小模型里。这种方式的优势是草稿模型和大模型的思路高度匹配，准确率能拉满；但短板是得额外投入训练的算力、数据成本，门槛会高一些。第三种是更轻量的玩法：直接用目标大模型的一部分（比如只取模型的前几层），或者干脆不用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LLM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，用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n-gram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、规则匹配这类简单方法做预测。它的好处是几乎没额外成本，跑起来也最快；但缺点是准确率比较低，只适合一些生成逻辑简单的场景。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在希腊神话中，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Medusa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以其致命的凝视而著名，看过圣斗士星矢的小伙伴应该都有印象，任何直视她眼睛的人都会立刻变成石头。她的头发由许多蛇组成，这篇文章应该取这个含义。</a:t>
            </a:r>
            <a:endParaRPr lang="zh-CN" altLang="en-US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endParaRPr lang="zh-CN" altLang="en-US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endParaRPr lang="zh-CN" altLang="en-US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前面的投机推理得额外搭个小草稿模型，但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Medusa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直接把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草稿功能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集成到原大模型里了：它在原模型最后一层的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Hidden Layer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后面，加了好几个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“Medusa Head”——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相当于给原模型开了多个预测分支，不用再单独找个小模型当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草稿员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了。</a:t>
            </a:r>
            <a:endParaRPr lang="zh-CN" altLang="en-US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这些分支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Head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的预测逻辑很巧妙：比如输入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token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序列是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t0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、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t1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到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ti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，原来的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LM Head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负责预测下一个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token ti+1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；而第一个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Medusa Head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会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跳一步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，直接基于当前输入预测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ti+2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；其他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Medusa Head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也各有分工，分别预测更靠后的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token——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等于一次性让原模型自己产出一串后续候选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token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。</a:t>
            </a:r>
            <a:endParaRPr lang="zh-CN" altLang="en-US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咱们看右边的示意图更直观：输入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“What will happen if Medusa meets a llama?”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后，原模型的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Transformer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层输出隐藏层信息，除了原来的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LM Head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，几个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Medusa Head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也各自给出了候选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token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（比如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“is, ”“difficult”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这些）；之后验证这些候选，像图里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 It is difficult”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符合原模型的逻辑就被保留，最终生成正确结果。</a:t>
            </a:r>
            <a:endParaRPr lang="zh-CN" altLang="en-US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这种设计的好处很明显：不用额外维护一个独立的草稿模型，而且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Medusa Head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是基于原模型的隐藏层预测的，和原模型的思路天然更契合，不用操心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草稿模型和大模型不搭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的问题。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接下来咱们看第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9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页，这页是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Medusa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头的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结构素颜照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”——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把它的核心构造给拆透了～</a:t>
            </a:r>
            <a:endParaRPr lang="zh-CN" altLang="en-US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先划重点：每个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Medusa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头，其实就是个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单层前馈网络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+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残差连接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的轻量组件，轻到啥程度？跟原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LLM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几十亿的参数比，它这点参数基本可以忽略，但功能很关键。</a:t>
            </a:r>
            <a:endParaRPr lang="zh-CN" altLang="en-US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咱们顺着公式看哈：首先，公式里的</a:t>
            </a:r>
            <a:endParaRPr lang="zh-CN" altLang="en-US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h </a:t>
            </a:r>
            <a:endParaRPr lang="en-US" altLang="zh-CN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t</a:t>
            </a:r>
            <a:endParaRPr lang="en-US" altLang="zh-CN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​</a:t>
            </a:r>
            <a:endParaRPr lang="en-US" altLang="zh-CN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</a:t>
            </a:r>
            <a:endParaRPr lang="en-US" altLang="zh-CN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是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原材料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”——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就是原始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LLM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跑到第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t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步时，最后一层输出的隐藏状态，相当于原模型已经提炼好的语义信息。</a:t>
            </a:r>
            <a:endParaRPr lang="zh-CN" altLang="en-US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然后看中间部分：</a:t>
            </a:r>
            <a:endParaRPr lang="zh-CN" altLang="en-US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W </a:t>
            </a:r>
            <a:endParaRPr lang="en-US" altLang="zh-CN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1</a:t>
            </a:r>
            <a:endParaRPr lang="en-US" altLang="zh-CN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(k)</a:t>
            </a:r>
            <a:endParaRPr lang="en-US" altLang="zh-CN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​</a:t>
            </a:r>
            <a:endParaRPr lang="en-US" altLang="zh-CN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⋅h </a:t>
            </a:r>
            <a:endParaRPr lang="en-US" altLang="zh-CN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t</a:t>
            </a:r>
            <a:endParaRPr lang="en-US" altLang="zh-CN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​</a:t>
            </a:r>
            <a:endParaRPr lang="en-US" altLang="zh-CN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</a:t>
            </a:r>
            <a:endParaRPr lang="en-US" altLang="zh-CN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是给原材料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初加工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”——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用这个矩阵对</a:t>
            </a:r>
            <a:endParaRPr lang="zh-CN" altLang="en-US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h </a:t>
            </a:r>
            <a:endParaRPr lang="en-US" altLang="zh-CN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t</a:t>
            </a:r>
            <a:endParaRPr lang="en-US" altLang="zh-CN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​</a:t>
            </a:r>
            <a:endParaRPr lang="en-US" altLang="zh-CN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</a:t>
            </a:r>
            <a:endParaRPr lang="en-US" altLang="zh-CN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做特征变换，目的是抓准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预测后面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token”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需要的特定模式；接着过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SiLU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激活函数，为啥选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SiLU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？因为跟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Llama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系列模型用的一样，能保证和原模型兼容、训练不跑偏；后面加回</a:t>
            </a:r>
            <a:endParaRPr lang="zh-CN" altLang="en-US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h </a:t>
            </a:r>
            <a:endParaRPr lang="en-US" altLang="zh-CN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t</a:t>
            </a:r>
            <a:endParaRPr lang="en-US" altLang="zh-CN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​</a:t>
            </a:r>
            <a:endParaRPr lang="en-US" altLang="zh-CN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</a:t>
            </a:r>
            <a:endParaRPr lang="en-US" altLang="zh-CN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是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留底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”——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这叫残差连接，防止变换的时候把原模型已经学会的语义知识弄丢了。</a:t>
            </a:r>
            <a:endParaRPr lang="zh-CN" altLang="en-US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最后是</a:t>
            </a:r>
            <a:endParaRPr lang="zh-CN" altLang="en-US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W </a:t>
            </a:r>
            <a:endParaRPr lang="en-US" altLang="zh-CN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2</a:t>
            </a:r>
            <a:endParaRPr lang="en-US" altLang="zh-CN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(k)</a:t>
            </a:r>
            <a:endParaRPr lang="en-US" altLang="zh-CN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​</a:t>
            </a:r>
            <a:endParaRPr lang="en-US" altLang="zh-CN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</a:t>
            </a:r>
            <a:endParaRPr lang="en-US" altLang="zh-CN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：相当于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最后一道工序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，把前面处理好的特征，映射到模型的词汇表维度，输出每个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token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的原始得分（也就是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logits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），再经过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softmax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就能得到预测概率了。</a:t>
            </a:r>
            <a:endParaRPr lang="zh-CN" altLang="en-US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总结下这结构的妙处：又轻量（不增加原模型负担）、又对齐（全程贴着原模型的语义信息走）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——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就靠这么简单的设计，实现了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并行预测后续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token”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的核心功能。</a:t>
            </a:r>
            <a:endParaRPr lang="zh-CN" altLang="en-US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要不要我帮你把这个结构的核心要点提炼成简化版卡片？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上一页说它加了多个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Medusa Head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来预测候选，但这里藏了个小问题：这些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Head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的预测是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各说各话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的，比如一个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Head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预测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ti+1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，另一个预测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ti+2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，但这俩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token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之间没啥逻辑关联，很容易导致候选序列是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散的、不通顺的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。</a:t>
            </a:r>
            <a:endParaRPr lang="zh-CN" altLang="en-US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那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Medusa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是咋解决的？它引入了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“topk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采样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+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树状结构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的组合方式：先把每个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Head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预测的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topk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个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token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挑出来，像右边图里，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Root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先出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“it”“I”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这些候选，然后后面的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Head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基于前面的结果，继续生成后续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token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，把这些候选串成树状的序列链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——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这样每个候选都是有前后逻辑关联的，之后再对这一整棵树的候选做并行验证，就解决了之前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预测不一致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的问题。</a:t>
            </a:r>
            <a:endParaRPr lang="zh-CN" altLang="en-US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最后咱们看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Medusa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的训练方法，论文里给了两种核心策略，能适配不同的资源和性能需求：第一种是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MEDUSA-1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，直接冻结原模型的骨干部分，只微调新增的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Medusa Heads——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这属于轻量微调，不用太多算力，成本很低；第二种是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MEDUSA-2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，把原模型骨干和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Medusa Heads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放在一起联合训练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——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虽然需要的资源更多，但能把性能拉到最优。</a:t>
            </a:r>
            <a:endParaRPr lang="zh-CN" altLang="en-US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这两种方法等于是给咱们提供了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轻量低成本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和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性能拉满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的双选项，按需选就行。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接下来咱们看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Medusa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的实际实验效果，这页数据把它的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提速、内存、质量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三个核心维度都讲透了。</a:t>
            </a:r>
            <a:endParaRPr lang="zh-CN" altLang="en-US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先看表格里的核心指标：</a:t>
            </a:r>
            <a:endParaRPr lang="zh-CN" altLang="en-US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加速比：原始模型是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1.0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倍（基准线），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MEDUSA-1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直接干到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2.2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倍，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MEDUSA-2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更猛，到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2.8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倍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——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相当于原来生成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1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分钟的内容，现在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MEDUSA-2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只要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20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多秒，提速效果很直观；</a:t>
            </a:r>
            <a:endParaRPr lang="zh-CN" altLang="en-US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内存占用：原始模型是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32GB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，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MEDUSA-1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只涨了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2GB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到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34GB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，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MEDUSA-2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到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38GB——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虽然加了几个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Medusa Heads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，但内存涨幅很小，部署的时候不用额外升级硬件；</a:t>
            </a:r>
            <a:endParaRPr lang="zh-CN" altLang="en-US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质量保持率：原始模型是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100%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，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MEDUSA-1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是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98.7%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，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MEDUSA-2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是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99.2%——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几乎没损失，用户根本感觉不出生成内容的质量下降，这才是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提速不丢质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的关键。</a:t>
            </a:r>
            <a:endParaRPr lang="zh-CN" altLang="en-US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再看最核心的结论：文本越长，加速越显著。咱们看具体数据：生成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256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个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Token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的时候，加速比是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2.3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倍；到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512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个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Token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，涨到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2.8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倍；等生成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1024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个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Token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（差不多是一篇短文档），加速比直接到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3.5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倍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——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这意味着业务里如果有长文本生成（比如写报告、长摘要），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Medusa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的提速效果会越来越强，刚好戳中长文本生成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慢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的痛点。</a:t>
            </a:r>
            <a:endParaRPr lang="zh-CN" altLang="en-US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简单总结：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Medusa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是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小内存成本换大提速，还不丢质量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，尤其是长文本场景，优势会被放大。</a:t>
            </a:r>
            <a:endParaRPr lang="zh-CN" altLang="en-US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接下来咱们看投机推理里，针对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知识蒸馏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的优化方案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——AdaSPEC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。</a:t>
            </a:r>
            <a:endParaRPr lang="zh-CN" altLang="en-US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前面咱们聊过，自训练草稿模型常用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知识蒸馏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，把大模型的知识浓缩到小模型里，但这里藏了个小坑：不是所有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token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都好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学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，有些难学的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token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会占小模型的容量，反而让有用的知识没学好。</a:t>
            </a:r>
            <a:endParaRPr lang="zh-CN" altLang="en-US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而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AdaSPEC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就是专门解决这个问题的：它的核心思想是在蒸馏阶段，先识别并过滤掉那些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难学、不容易和大模型对齐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的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token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，只让草稿模型聚焦在好学、易对齐的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易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 tokens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上。相当于给小模型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减负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，让它把有限的容量用在刀刃上，知识迁移更聚焦、效果也更高效。</a:t>
            </a:r>
            <a:endParaRPr lang="zh-CN" altLang="en-US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具体实现上，它搞了个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选择性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token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过滤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机制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——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像右边例子里的句子，会先把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token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分成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易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难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两类，只挑容易对齐的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易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 tokens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来训练，再配合专门的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AdaSPEC Loss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优化。整个过程分阶段来，确保草稿模型能把精力都放在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能学好的内容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上。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接下来咱们看投机推理里，针对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知识蒸馏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的优化方案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——AdaSPEC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。</a:t>
            </a:r>
            <a:endParaRPr lang="zh-CN" altLang="en-US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前面咱们聊过，自训练草稿模型常用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知识蒸馏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，把大模型的知识浓缩到小模型里，但这里藏了个小坑：不是所有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token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都好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学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，有些难学的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token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会占小模型的容量，反而让有用的知识没学好。</a:t>
            </a:r>
            <a:endParaRPr lang="zh-CN" altLang="en-US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而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AdaSPEC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就是专门解决这个问题的：它的核心思想是在蒸馏阶段，先识别并过滤掉那些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难学、不容易和大模型对齐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的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token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，只让草稿模型聚焦在好学、易对齐的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易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 tokens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上。相当于给小模型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减负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，让它把有限的容量用在刀刃上，知识迁移更聚焦、效果也更高效。</a:t>
            </a:r>
            <a:endParaRPr lang="zh-CN" altLang="en-US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具体实现上，它搞了个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选择性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token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过滤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机制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——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像右边例子里的句子，会先把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token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分成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易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难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两类，只挑容易对齐的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易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 tokens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来训练，再配合专门的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AdaSPEC Loss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优化。整个过程分阶段来，确保草稿模型能把精力都放在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能学好的内容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上。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接下来咱们看投机推理里，针对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知识蒸馏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的优化方案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——AdaSPEC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。</a:t>
            </a:r>
            <a:endParaRPr lang="zh-CN" altLang="en-US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前面咱们聊过，自训练草稿模型常用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知识蒸馏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，把大模型的知识浓缩到小模型里，但这里藏了个小坑：不是所有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token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都好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学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，有些难学的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token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会占小模型的容量，反而让有用的知识没学好。</a:t>
            </a:r>
            <a:endParaRPr lang="zh-CN" altLang="en-US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而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AdaSPEC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就是专门解决这个问题的：它的核心思想是在蒸馏阶段，先识别并过滤掉那些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难学、不容易和大模型对齐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的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token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，只让草稿模型聚焦在好学、易对齐的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易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 tokens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上。相当于给小模型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减负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，让它把有限的容量用在刀刃上，知识迁移更聚焦、效果也更高效。</a:t>
            </a:r>
            <a:endParaRPr lang="zh-CN" altLang="en-US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具体实现上，它搞了个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选择性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token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过滤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机制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——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像右边例子里的句子，会先把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token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分成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易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难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两类，只挑容易对齐的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易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 tokens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来训练，再配合专门的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AdaSPEC Loss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优化。整个过程分阶段来，确保草稿模型能把精力都放在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能学好的内容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上。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各位朋友，咱们接着往下走，这一页要讲的是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AdaSPEC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最核心的环节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——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选择性草稿模型蒸馏，这也是咱们让小模型既能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变小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又能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变强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的关键一步。</a:t>
            </a:r>
            <a:endParaRPr lang="zh-CN" altLang="en-US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先明确一个前提：这里的草稿模型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Mq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，就是咱们最终要落地的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小模型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”——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它参数量小、推理快，但一开始性能肯定比不上大模型的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Mp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，所以这一步的目标，就是把大模型的能力精准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灌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进这个小模型里。</a:t>
            </a:r>
            <a:endParaRPr lang="zh-CN" altLang="en-US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不过这里有个问题：要是直接把大模型的所有内容都塞给小模型，会有啥麻烦？要么是小模型学不过来（效率低），要么是学了很多已经会的内容（浪费资源），甚至可能越学越偏（性能损失）。所以这一步的核心，就是只挑最有价值的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可学习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tokens”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来教小模型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——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相当于给小模型定制了一份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精准学习清单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。</a:t>
            </a:r>
            <a:endParaRPr lang="zh-CN" altLang="en-US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那这份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清单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是怎么选出来的呢？咱们分两步看：</a:t>
            </a:r>
            <a:endParaRPr lang="zh-CN" altLang="en-US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第一步，先给每个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token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做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差距评估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。这里的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token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可以理解成模型学习的最小单元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——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比如文本里的一个词、图像生成里的一块像素特征。我们要给每个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token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算两个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KL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散度损失：</a:t>
            </a:r>
            <a:endParaRPr lang="zh-CN" altLang="en-US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第一个是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L_ref (w)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，它算的是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参考模型（上一页咱们训好的那个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‘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中间标杆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’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）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和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目标大模型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在这个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token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上的差距。因为参考模型已经和大模型对齐得不错了，所以这个值其实是个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基准线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”——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代表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这个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token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要学到啥程度才算合格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。</a:t>
            </a:r>
            <a:endParaRPr lang="zh-CN" altLang="en-US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第二个是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L_draft (w)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，它算的是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当前的草稿小模型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和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目标大模型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在这个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token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上的差距。这个值越大，说明小模型在这个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token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上的表现越拉胯，是现在的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短板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。</a:t>
            </a:r>
            <a:endParaRPr lang="zh-CN" altLang="en-US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那怎么判断这个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token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值不值得学呢？咱们算一个差值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ΔL (w)=L_draft (w)-L_ref (w)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。这个差值大，意味着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小模型在这个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token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上的差距，比参考模型的基准差距大很多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”——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翻译成人话就是：这个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token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是小模型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现在学得差，但只要好好学就能接近大模型水平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的内容，属于高价值的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好学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 tokens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；反之，差值小的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token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，要么是小模型已经学得不错了，要么是太难学了，暂时不用管。</a:t>
            </a:r>
            <a:endParaRPr lang="zh-CN" altLang="en-US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第二步，就是根据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ΔL (w)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挑出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学习清单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。我们定义一个子集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S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，把所有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token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里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ΔL (w)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排前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k%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的选进来（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k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是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0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到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1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之间的超参数，比如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k=0.3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就是选前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30%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）。这部分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S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里的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token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，就是小模型这一轮训练要重点攻克的内容。</a:t>
            </a:r>
            <a:endParaRPr lang="zh-CN" altLang="en-US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选好清单之后，怎么用这些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tokens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训练小模型呢？看右边这个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L_distill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损失函数：它只计算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S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里的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token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对应的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L_draft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损失，而且加了个归一化系数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——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避免因为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k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选得不一样（比如选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10%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和选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30%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），导致损失的数值忽大忽小，影响训练稳定性。</a:t>
            </a:r>
            <a:endParaRPr lang="zh-CN" altLang="en-US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右边这个例子其实很直观：比如这句话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“Emily then has 6+12=&lt;&lt;6+12=18&gt;&gt;18 marbles”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，每个词是一个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token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，我们会先算每个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token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的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ΔL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，然后把像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“then”“6+12=&lt;&lt;”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这些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ΔL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大的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token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标成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“Selected for training”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（图里打勾的部分），最后只拿这些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token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的损失来训练小模型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——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相当于让小模型把算力和学习资源，都花在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最能提升自己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的地方。</a:t>
            </a:r>
            <a:endParaRPr lang="zh-CN" altLang="en-US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这里还要补充一点：这个筛选过程不是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一锤子买卖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，而是边训练边动态调整的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——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小模型每学一轮，它的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L_draft (w)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就会变，对应的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ΔL (w)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也会变，所以下一轮的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学习清单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S”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也会更新。比如之前学得差的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token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，学完一轮可能变成学得好的，就会从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S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里去掉；而之前没那么差的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token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，可能变成新的短板，加入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S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里。这种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动态筛选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，正是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AdaSPEC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叫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自适应（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Adaptive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）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的原因。</a:t>
            </a:r>
            <a:endParaRPr lang="zh-CN" altLang="en-US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总结一下这一步的价值：它让小模型不用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胡子眉毛一把抓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，而是精准聚焦在能有效提升性能的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tokens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上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——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既省了计算资源，又能让小模型更快、更好地对齐大模型的能力，完美解决了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小模型效率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和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大模型性能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之间的矛盾。</a:t>
            </a:r>
            <a:endParaRPr lang="zh-CN" altLang="en-US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这就是选择性草稿模型蒸馏的核心逻辑了，接下来咱们可以看看这个方法实际落地的效果～</a:t>
            </a:r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接下来咱们看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AdaSPEC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的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实战成绩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”——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这页的核心是验证它的效果，而投机推理里最关键的指标之一就是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接受率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：草稿模型生成的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token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被大模型接受的比例越高，说明两者对齐得越好，投机的效率也就越高。</a:t>
            </a:r>
            <a:endParaRPr lang="zh-CN" altLang="en-US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先给结论：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AdaSPEC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在所有任务、所有模型配置里，接受率都比之前的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DistillSpec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更优，最高甚至能提升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15%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。比如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MBPP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这个代码任务里，用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Pythia-31M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当草稿模型、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1.4B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当目标大模型的配置下，最优轮次训练的接受率直接从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49.88%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涨到了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65.12%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，这个涨幅相当亮眼。</a:t>
            </a:r>
            <a:endParaRPr lang="zh-CN" altLang="en-US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咱们再看表格里的具体数据：不管是数学题（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GSM8K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）、对话（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Alpaca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）、代码（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MBPP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）还是文本摘要（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CNN/Daily Mail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、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XSUM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），不管是训练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3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轮的阶段，还是训练到最优轮次的阶段，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AdaSPEC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对应的接受率都稳稳超过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DistillSpec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。比如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GSM8K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在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3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轮训练时，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Pythia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配置从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57.58%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涨到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62.63%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，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CodeGen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配置从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79.49%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涨到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82.79%——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等于不管什么任务、什么模型组合，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AdaSPEC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的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选择性蒸馏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都能帮草稿模型更好地对齐大模型。</a:t>
            </a:r>
            <a:endParaRPr lang="zh-CN" altLang="en-US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这个结果其实也印证了之前的思路：过滤难学的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token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，让草稿模型聚焦易对齐的内容，确实能实实在在提升接受率，让投机推理的效率更有保障。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咱们上一页看到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AdaSPEC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把接受率提上去了，这页就是它的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实战提速成果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”——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接受率的提升，实实在在转化成了推理速度的加快。</a:t>
            </a:r>
            <a:endParaRPr lang="zh-CN" altLang="en-US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先讲测试条件：是用实际部署里常用的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vLLM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推理引擎，搭配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A100 GPU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测的，结果是端到端解码能提速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10%~20%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。比如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CNN/Daily Mail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这个摘要任务里，每秒生成的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Token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数（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tokens/s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）直接从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248.49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涨到了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283.50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，能明显感觉到生成变快了。</a:t>
            </a:r>
            <a:endParaRPr lang="zh-CN" altLang="en-US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咱们看表格里的具体任务：</a:t>
            </a:r>
            <a:endParaRPr lang="zh-CN" altLang="en-US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代码任务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MBPP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：原来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DistillSpec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要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0.69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秒生成一个句子，每秒出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149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个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Token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；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AdaSPEC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把时间压到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0.57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秒，每秒能出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181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个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Token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，速度涨了不少；</a:t>
            </a:r>
            <a:endParaRPr lang="zh-CN" altLang="en-US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数学题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GSM8K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：从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0.51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秒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/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句子降到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0.48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秒，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tokens/s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从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227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涨到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241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；</a:t>
            </a:r>
            <a:endParaRPr lang="zh-CN" altLang="en-US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还是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CNN/Daily Mail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最明显，时间从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0.76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秒缩到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0.67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秒，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tokens/s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的提升也最突出。</a:t>
            </a:r>
            <a:endParaRPr lang="zh-CN" altLang="en-US" b="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这些数据都是在真实推理引擎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+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硬件下测的，不是实验室里的理论值，说明</a:t>
            </a:r>
            <a:r>
              <a:rPr lang="en-US" altLang="zh-CN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 AdaSPEC </a:t>
            </a:r>
            <a:r>
              <a:rPr lang="zh-CN" altLang="en-US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的优化是真的能在实际部署里帮咱们把大模型生成速度提上去的。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7170" name="文本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ctr"/>
          <a:lstStyle/>
          <a:p>
            <a:pPr lvl="0"/>
            <a:r>
              <a:rPr lang="zh-CN" altLang="en-US" dirty="0"/>
              <a:t>亮亮图文旗舰店</a:t>
            </a:r>
            <a:endParaRPr lang="zh-CN" altLang="en-US" dirty="0"/>
          </a:p>
          <a:p>
            <a:pPr lvl="0"/>
            <a:r>
              <a:rPr lang="en-US" altLang="zh-CN" dirty="0"/>
              <a:t>https://liangliangtuwen.tmall.com</a:t>
            </a:r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8763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8763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20363" cy="2852737"/>
          </a:xfr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20363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1788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3788" y="1600200"/>
            <a:ext cx="5413375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20362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937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9375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5375" y="1681163"/>
            <a:ext cx="518477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5375" y="2505075"/>
            <a:ext cx="5184775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rotWithShape="0"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3"/>
          <p:cNvPicPr>
            <a:picLocks noChangeAspect="1"/>
          </p:cNvPicPr>
          <p:nvPr userDrawn="1"/>
        </p:nvPicPr>
        <p:blipFill>
          <a:blip r:embed="rId3" cstate="print"/>
          <a:srcRect t="14301" b="13251"/>
          <a:stretch>
            <a:fillRect/>
          </a:stretch>
        </p:blipFill>
        <p:spPr>
          <a:xfrm>
            <a:off x="0" y="0"/>
            <a:ext cx="1219676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0" y="0"/>
            <a:ext cx="12196763" cy="6858000"/>
          </a:xfrm>
          <a:prstGeom prst="rect">
            <a:avLst/>
          </a:prstGeom>
          <a:solidFill>
            <a:srgbClr val="003366">
              <a:alpha val="8588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bg>
      <p:bgPr>
        <a:blipFill rotWithShape="0"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图片 3"/>
          <p:cNvPicPr>
            <a:picLocks noChangeAspect="1"/>
          </p:cNvPicPr>
          <p:nvPr userDrawn="1"/>
        </p:nvPicPr>
        <p:blipFill>
          <a:blip r:embed="rId3" cstate="print"/>
          <a:srcRect t="14301" b="13251"/>
          <a:stretch>
            <a:fillRect/>
          </a:stretch>
        </p:blipFill>
        <p:spPr>
          <a:xfrm>
            <a:off x="0" y="0"/>
            <a:ext cx="1219676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0" y="0"/>
            <a:ext cx="12196763" cy="6858000"/>
          </a:xfrm>
          <a:prstGeom prst="rect">
            <a:avLst/>
          </a:prstGeom>
          <a:solidFill>
            <a:srgbClr val="003366">
              <a:alpha val="8588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5522913" y="0"/>
            <a:ext cx="6673850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3825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4775" y="987425"/>
            <a:ext cx="6175375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38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3825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4775" y="987425"/>
            <a:ext cx="6175375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38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3963" y="908050"/>
            <a:ext cx="2743200" cy="5218113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908050"/>
            <a:ext cx="8081963" cy="5218113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仅标题空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标题 1"/>
          <p:cNvSpPr>
            <a:spLocks noGrp="1"/>
          </p:cNvSpPr>
          <p:nvPr>
            <p:ph type="title"/>
          </p:nvPr>
        </p:nvSpPr>
        <p:spPr>
          <a:xfrm>
            <a:off x="335481" y="122216"/>
            <a:ext cx="10318472" cy="658085"/>
          </a:xfrm>
        </p:spPr>
        <p:txBody>
          <a:bodyPr>
            <a:noAutofit/>
          </a:bodyPr>
          <a:lstStyle>
            <a:lvl1pPr algn="l" defTabSz="1218565" rtl="0" eaLnBrk="1" latinLnBrk="0" hangingPunct="1">
              <a:spcBef>
                <a:spcPct val="0"/>
              </a:spcBef>
              <a:buNone/>
              <a:defRPr lang="zh-CN" altLang="en-US" sz="2800" b="1" kern="1200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7" name="矩形 2"/>
          <p:cNvSpPr/>
          <p:nvPr userDrawn="1"/>
        </p:nvSpPr>
        <p:spPr>
          <a:xfrm>
            <a:off x="11572826" y="6444602"/>
            <a:ext cx="30988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7295"/>
            <a:fld id="{D5DDBE9D-0EAE-4BF9-9976-992BCF72F40A}" type="slidenum">
              <a:rPr/>
            </a:fld>
            <a:endParaRPr lang="zh-CN" altLang="en-US" sz="1600" dirty="0">
              <a:solidFill>
                <a:prstClr val="black"/>
              </a:solidFill>
            </a:endParaRPr>
          </a:p>
        </p:txBody>
      </p:sp>
      <p:pic>
        <p:nvPicPr>
          <p:cNvPr id="78" name="图片 8"/>
          <p:cNvPicPr>
            <a:picLocks noChangeAspect="1"/>
          </p:cNvPicPr>
          <p:nvPr userDrawn="1"/>
        </p:nvPicPr>
        <p:blipFill rotWithShape="1">
          <a:blip r:embed="rId2" cstate="print"/>
          <a:srcRect/>
          <a:stretch>
            <a:fillRect/>
          </a:stretch>
        </p:blipFill>
        <p:spPr>
          <a:xfrm>
            <a:off x="335481" y="807730"/>
            <a:ext cx="11524201" cy="6723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89461" y="314965"/>
            <a:ext cx="3070221" cy="3712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8763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8763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20363" cy="2852737"/>
          </a:xfr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20363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1788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3788" y="1600200"/>
            <a:ext cx="5413375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20362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937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9375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5375" y="1681163"/>
            <a:ext cx="518477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5375" y="2505075"/>
            <a:ext cx="5184775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3825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4775" y="987425"/>
            <a:ext cx="6175375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38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3825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4775" y="987425"/>
            <a:ext cx="6175375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38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3963" y="908050"/>
            <a:ext cx="2743200" cy="5218113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908050"/>
            <a:ext cx="8081963" cy="5218113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仅标题空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标题 1"/>
          <p:cNvSpPr>
            <a:spLocks noGrp="1"/>
          </p:cNvSpPr>
          <p:nvPr>
            <p:ph type="title"/>
          </p:nvPr>
        </p:nvSpPr>
        <p:spPr>
          <a:xfrm>
            <a:off x="335481" y="122216"/>
            <a:ext cx="10318472" cy="658085"/>
          </a:xfrm>
        </p:spPr>
        <p:txBody>
          <a:bodyPr>
            <a:noAutofit/>
          </a:bodyPr>
          <a:lstStyle>
            <a:lvl1pPr algn="l" defTabSz="1218565" rtl="0" eaLnBrk="1" latinLnBrk="0" hangingPunct="1">
              <a:spcBef>
                <a:spcPct val="0"/>
              </a:spcBef>
              <a:buNone/>
              <a:defRPr lang="zh-CN" altLang="en-US" sz="2800" b="1" kern="1200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7" name="矩形 2"/>
          <p:cNvSpPr/>
          <p:nvPr userDrawn="1"/>
        </p:nvSpPr>
        <p:spPr>
          <a:xfrm>
            <a:off x="11572826" y="6444602"/>
            <a:ext cx="30988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7295"/>
            <a:fld id="{D5DDBE9D-0EAE-4BF9-9976-992BCF72F40A}" type="slidenum">
              <a:rPr/>
            </a:fld>
            <a:endParaRPr lang="zh-CN" altLang="en-US" sz="1600" dirty="0">
              <a:solidFill>
                <a:prstClr val="black"/>
              </a:solidFill>
            </a:endParaRPr>
          </a:p>
        </p:txBody>
      </p:sp>
      <p:pic>
        <p:nvPicPr>
          <p:cNvPr id="78" name="图片 8"/>
          <p:cNvPicPr>
            <a:picLocks noChangeAspect="1"/>
          </p:cNvPicPr>
          <p:nvPr userDrawn="1"/>
        </p:nvPicPr>
        <p:blipFill rotWithShape="1">
          <a:blip r:embed="rId2" cstate="print"/>
          <a:srcRect/>
          <a:stretch>
            <a:fillRect/>
          </a:stretch>
        </p:blipFill>
        <p:spPr>
          <a:xfrm>
            <a:off x="335481" y="807730"/>
            <a:ext cx="11524201" cy="6723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89461" y="314965"/>
            <a:ext cx="3070221" cy="371276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1.jpe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4" Type="http://schemas.openxmlformats.org/officeDocument/2006/relationships/theme" Target="../theme/theme2.xml"/><Relationship Id="rId13" Type="http://schemas.openxmlformats.org/officeDocument/2006/relationships/image" Target="../media/image5.jpeg"/><Relationship Id="rId12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09600" y="908050"/>
            <a:ext cx="10977563" cy="635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7563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 indent="-34290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 indent="-285750"/>
            <a:r>
              <a:rPr lang="zh-CN" altLang="zh-CN" dirty="0"/>
              <a:t>第二级</a:t>
            </a:r>
            <a:endParaRPr lang="zh-CN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accent1"/>
          </a:solidFill>
          <a:latin typeface="+mn-lt"/>
          <a:ea typeface="仿宋_GB2312" pitchFamily="1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矩形 3"/>
          <p:cNvSpPr>
            <a:spLocks noChangeArrowheads="1"/>
          </p:cNvSpPr>
          <p:nvPr/>
        </p:nvSpPr>
        <p:spPr bwMode="auto">
          <a:xfrm>
            <a:off x="11582400" y="6381750"/>
            <a:ext cx="492125" cy="396875"/>
          </a:xfrm>
          <a:prstGeom prst="rect">
            <a:avLst/>
          </a:prstGeom>
          <a:solidFill>
            <a:srgbClr val="0F3D68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5" name="TextBox 4"/>
          <p:cNvSpPr txBox="1"/>
          <p:nvPr/>
        </p:nvSpPr>
        <p:spPr>
          <a:xfrm>
            <a:off x="11609388" y="6410325"/>
            <a:ext cx="436562" cy="33972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indent="0" algn="ctr"/>
            <a:fld id="{9A0DB2DC-4C9A-4742-B13C-FB6460FD3503}" type="slidenum">
              <a:rPr lang="zh-CN" altLang="en-US" sz="16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1600" dirty="0">
              <a:solidFill>
                <a:schemeClr val="accent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52" name="Rectangle 2"/>
          <p:cNvSpPr>
            <a:spLocks noGrp="1"/>
          </p:cNvSpPr>
          <p:nvPr>
            <p:ph type="title"/>
          </p:nvPr>
        </p:nvSpPr>
        <p:spPr>
          <a:xfrm>
            <a:off x="609600" y="908050"/>
            <a:ext cx="10977563" cy="635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2053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7563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 indent="-34290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 indent="-285750"/>
            <a:r>
              <a:rPr lang="zh-CN" altLang="zh-CN" dirty="0"/>
              <a:t>第二级</a:t>
            </a:r>
            <a:endParaRPr lang="zh-CN" altLang="zh-CN" dirty="0"/>
          </a:p>
        </p:txBody>
      </p:sp>
      <p:sp>
        <p:nvSpPr>
          <p:cNvPr id="2054" name="矩形 1"/>
          <p:cNvSpPr>
            <a:spLocks noChangeArrowheads="1"/>
          </p:cNvSpPr>
          <p:nvPr/>
        </p:nvSpPr>
        <p:spPr bwMode="auto">
          <a:xfrm>
            <a:off x="0" y="6713538"/>
            <a:ext cx="12196763" cy="144463"/>
          </a:xfrm>
          <a:prstGeom prst="rect">
            <a:avLst/>
          </a:prstGeom>
          <a:solidFill>
            <a:srgbClr val="0F3D6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/>
    </p:bldLst>
  </p:timing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accent1"/>
          </a:solidFill>
          <a:latin typeface="+mn-lt"/>
          <a:ea typeface="仿宋_GB2312" pitchFamily="1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7.png"/><Relationship Id="rId2" Type="http://schemas.openxmlformats.org/officeDocument/2006/relationships/tags" Target="../tags/tag1.xml"/><Relationship Id="rId1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0.xml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0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0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0.xml"/><Relationship Id="rId1" Type="http://schemas.openxmlformats.org/officeDocument/2006/relationships/tags" Target="../tags/tag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0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5.xml"/><Relationship Id="rId7" Type="http://schemas.openxmlformats.org/officeDocument/2006/relationships/slideLayout" Target="../slideLayouts/slideLayout20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/>
          <p:cNvSpPr txBox="1"/>
          <p:nvPr/>
        </p:nvSpPr>
        <p:spPr>
          <a:xfrm>
            <a:off x="769938" y="2311400"/>
            <a:ext cx="10728325" cy="81756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algn="ctr"/>
            <a:r>
              <a:rPr lang="zh-CN" altLang="en-US" sz="6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投机推理相关</a:t>
            </a:r>
            <a:endParaRPr lang="zh-CN" altLang="en-US" sz="60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76" name="TextBox 43"/>
          <p:cNvSpPr txBox="1"/>
          <p:nvPr>
            <p:custDataLst>
              <p:tags r:id="rId2"/>
            </p:custDataLst>
          </p:nvPr>
        </p:nvSpPr>
        <p:spPr>
          <a:xfrm>
            <a:off x="5666166" y="3903703"/>
            <a:ext cx="1448692" cy="64516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李亦非</a:t>
            </a:r>
            <a:endParaRPr lang="zh-CN" altLang="en-US" sz="24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81" name="Rectangle 5"/>
          <p:cNvSpPr/>
          <p:nvPr/>
        </p:nvSpPr>
        <p:spPr>
          <a:xfrm>
            <a:off x="34925" y="6745288"/>
            <a:ext cx="12196763" cy="41275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anchor="t"/>
          <a:lstStyle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6158" name="直接连接符 2"/>
          <p:cNvCxnSpPr/>
          <p:nvPr/>
        </p:nvCxnSpPr>
        <p:spPr>
          <a:xfrm>
            <a:off x="1201738" y="2159000"/>
            <a:ext cx="9864725" cy="0"/>
          </a:xfrm>
          <a:prstGeom prst="line">
            <a:avLst/>
          </a:prstGeom>
          <a:ln w="9525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6159" name="直接连接符 17"/>
          <p:cNvCxnSpPr/>
          <p:nvPr/>
        </p:nvCxnSpPr>
        <p:spPr>
          <a:xfrm>
            <a:off x="1201738" y="3284538"/>
            <a:ext cx="9864725" cy="0"/>
          </a:xfrm>
          <a:prstGeom prst="line">
            <a:avLst/>
          </a:prstGeom>
          <a:ln w="9525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7345" y="943854"/>
            <a:ext cx="4220005" cy="802395"/>
          </a:xfrm>
          <a:prstGeom prst="rect">
            <a:avLst/>
          </a:prstGeom>
        </p:spPr>
      </p:pic>
    </p:spTree>
  </p:cSld>
  <p:clrMapOvr>
    <a:masterClrMapping/>
  </p:clrMapOvr>
  <p:transition spd="slow" advTm="7871"/>
  <p:timing>
    <p:tnLst>
      <p:par>
        <p:cTn id="1" dur="indefinite" restart="never" nodeType="tmRoot"/>
      </p:par>
    </p:tnLst>
    <p:bldLst>
      <p:bldP spid="7171" grpId="0"/>
      <p:bldP spid="7176" grpId="0"/>
      <p:bldP spid="7181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Box 27"/>
          <p:cNvSpPr txBox="1"/>
          <p:nvPr/>
        </p:nvSpPr>
        <p:spPr>
          <a:xfrm>
            <a:off x="1012825" y="176213"/>
            <a:ext cx="7135495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l"/>
            <a:r>
              <a:rPr kumimoji="1"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投机</a:t>
            </a:r>
            <a:r>
              <a:rPr kumimoji="1" sz="3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推理</a:t>
            </a:r>
            <a:r>
              <a:rPr kumimoji="1"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kumimoji="1"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Speculative decoding</a:t>
            </a:r>
            <a:r>
              <a:rPr kumimoji="1"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）介绍</a:t>
            </a:r>
            <a:endParaRPr lang="zh-CN" altLang="en-US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291" name="Freeform 5"/>
          <p:cNvSpPr/>
          <p:nvPr/>
        </p:nvSpPr>
        <p:spPr>
          <a:xfrm>
            <a:off x="427038" y="220663"/>
            <a:ext cx="474662" cy="56038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45733" y="977900"/>
            <a:ext cx="5735320" cy="2584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l" fontAlgn="auto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核心痛点：自回归生成的效率瓶颈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285750" indent="-285750" algn="l" fontAlgn="auto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自回归生成中，每生成 1 个 Token 需调用 1 次大模型前向传播。效率较低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285750" indent="-285750" algn="l" fontAlgn="auto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核心原理：通过 “草稿模型（Draft Model，小、快）+ 目标大模型（Target Model，准、慢）” 的分工，实现1 次大模型前向传播生成 k+1 个 Token。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3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4651058" y="3689985"/>
            <a:ext cx="6834505" cy="2877820"/>
          </a:xfrm>
          <a:prstGeom prst="rect">
            <a:avLst/>
          </a:prstGeom>
        </p:spPr>
      </p:pic>
    </p:spTree>
  </p:cSld>
  <p:clrMapOvr>
    <a:masterClrMapping/>
  </p:clrMapOvr>
  <p:transition spd="slow" advTm="3804"/>
  <p:timing>
    <p:tnLst>
      <p:par>
        <p:cTn id="1" dur="indefinite" restart="never" nodeType="tmRoot"/>
      </p:par>
    </p:tnLst>
    <p:bldLst>
      <p:bldP spid="1229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Box 27"/>
          <p:cNvSpPr txBox="1"/>
          <p:nvPr/>
        </p:nvSpPr>
        <p:spPr>
          <a:xfrm>
            <a:off x="1012825" y="176213"/>
            <a:ext cx="2849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l"/>
            <a:r>
              <a:rPr kumimoji="1"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投机</a:t>
            </a:r>
            <a:r>
              <a:rPr kumimoji="1" sz="3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推理</a:t>
            </a:r>
            <a:r>
              <a:rPr kumimoji="1"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的实现</a:t>
            </a:r>
            <a:endParaRPr lang="zh-CN" altLang="en-US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291" name="Freeform 5"/>
          <p:cNvSpPr/>
          <p:nvPr/>
        </p:nvSpPr>
        <p:spPr>
          <a:xfrm>
            <a:off x="427038" y="220663"/>
            <a:ext cx="474662" cy="56038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4" name="文本框 3"/>
          <p:cNvSpPr txBox="1"/>
          <p:nvPr/>
        </p:nvSpPr>
        <p:spPr>
          <a:xfrm>
            <a:off x="143510" y="977900"/>
            <a:ext cx="5735320" cy="2584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经典的投机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推理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的实现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首先草稿模型生成了k个候选token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大模型通过1次前向传播输出k+1个位置的概率分布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然后从左到右依次判断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如果大模型生成的概率大于草稿模型的概率，则接受，否则以一定的概率接受该token。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60745" y="1311910"/>
            <a:ext cx="5739130" cy="4906010"/>
          </a:xfrm>
          <a:prstGeom prst="rect">
            <a:avLst/>
          </a:prstGeom>
        </p:spPr>
      </p:pic>
    </p:spTree>
  </p:cSld>
  <p:clrMapOvr>
    <a:masterClrMapping/>
  </p:clrMapOvr>
  <p:transition spd="slow" advTm="3804"/>
  <p:timing>
    <p:tnLst>
      <p:par>
        <p:cTn id="1" dur="indefinite" restart="never" nodeType="tmRoot"/>
      </p:par>
    </p:tnLst>
    <p:bldLst>
      <p:bldP spid="1229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Box 27"/>
          <p:cNvSpPr txBox="1"/>
          <p:nvPr/>
        </p:nvSpPr>
        <p:spPr>
          <a:xfrm>
            <a:off x="1012825" y="176213"/>
            <a:ext cx="2849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l"/>
            <a:r>
              <a:rPr kumimoji="1"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投机</a:t>
            </a:r>
            <a:r>
              <a:rPr kumimoji="1" sz="3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推理</a:t>
            </a:r>
            <a:r>
              <a:rPr kumimoji="1"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的实现</a:t>
            </a:r>
            <a:endParaRPr lang="zh-CN" altLang="en-US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291" name="Freeform 5"/>
          <p:cNvSpPr/>
          <p:nvPr/>
        </p:nvSpPr>
        <p:spPr>
          <a:xfrm>
            <a:off x="427038" y="220663"/>
            <a:ext cx="474662" cy="56038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4" name="文本框 3"/>
          <p:cNvSpPr txBox="1"/>
          <p:nvPr/>
        </p:nvSpPr>
        <p:spPr>
          <a:xfrm>
            <a:off x="143510" y="977900"/>
            <a:ext cx="5735320" cy="2584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经典的投机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推理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的实现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首先草稿模型生成了k个候选token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大模型通过1次前向传播输出k+1个位置的概率分布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然后从左到右依次判断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如果大模型生成的概率大于草稿模型的概率，则接受，否则以一定的概率接受该token。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339205" y="977900"/>
            <a:ext cx="5080000" cy="5380355"/>
          </a:xfrm>
          <a:prstGeom prst="rect">
            <a:avLst/>
          </a:prstGeom>
        </p:spPr>
        <p:txBody>
          <a:bodyPr>
            <a:spAutoFit/>
          </a:bodyPr>
          <a:p>
            <a:pPr indent="0" fontAlgn="auto">
              <a:lnSpc>
                <a:spcPct val="150000"/>
              </a:lnSpc>
              <a:spcAft>
                <a:spcPct val="60000"/>
              </a:spcAft>
            </a:pPr>
            <a:r>
              <a:rPr lang="zh-CN" altLang="en-US" sz="2400" b="1" i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具体例子：生成 “我喜欢吃苹果”</a:t>
            </a:r>
            <a:endParaRPr lang="zh-CN" altLang="en-US" sz="2400" b="1" i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fontAlgn="auto">
              <a:lnSpc>
                <a:spcPct val="150000"/>
              </a:lnSpc>
            </a:pPr>
            <a:r>
              <a:rPr lang="zh-CN" altLang="en-US" sz="1600" b="0" i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假设大模型需要生成这句话，传统解码需要 </a:t>
            </a:r>
            <a:r>
              <a:rPr lang="en-US" altLang="zh-CN" sz="1600" b="0" i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 </a:t>
            </a:r>
            <a:r>
              <a:rPr lang="zh-CN" altLang="en-US" sz="1600" b="0" i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步，而推测解码的过程可能是：</a:t>
            </a:r>
            <a:endParaRPr lang="zh-CN" altLang="en-US" sz="1600" b="0" i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zh-CN" altLang="en-US" sz="1600" b="0" i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草稿模型推测：基于 “我”，草稿模型快速猜出候选序列：“喜欢吃香蕉”（共 </a:t>
            </a:r>
            <a:r>
              <a:rPr lang="en-US" altLang="zh-CN" sz="1600" b="0" i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 </a:t>
            </a:r>
            <a:r>
              <a:rPr lang="zh-CN" altLang="en-US" sz="1600" b="0" i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 </a:t>
            </a:r>
            <a:r>
              <a:rPr lang="en-US" altLang="zh-CN" sz="1600" b="0" i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token</a:t>
            </a:r>
            <a:r>
              <a:rPr lang="zh-CN" altLang="en-US" sz="1600" b="0" i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）。</a:t>
            </a:r>
            <a:endParaRPr lang="zh-CN" altLang="en-US" sz="1600" b="0" i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zh-CN" altLang="en-US" sz="1600" b="0" i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大模型验证：大模型检查后发现，“喜欢吃” 是合理的（符合自身概率），但 “香蕉” 不合理（大模型更倾向于 “苹果”）。</a:t>
            </a:r>
            <a:endParaRPr lang="zh-CN" altLang="en-US" sz="1600" b="0" i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zh-CN" altLang="en-US" sz="1600" b="0" i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接受与回退：接受 “喜欢吃”（</a:t>
            </a:r>
            <a:r>
              <a:rPr lang="en-US" altLang="zh-CN" sz="1600" b="0" i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 </a:t>
            </a:r>
            <a:r>
              <a:rPr lang="zh-CN" altLang="en-US" sz="1600" b="0" i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 </a:t>
            </a:r>
            <a:r>
              <a:rPr lang="en-US" altLang="zh-CN" sz="1600" b="0" i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token</a:t>
            </a:r>
            <a:r>
              <a:rPr lang="zh-CN" altLang="en-US" sz="1600" b="0" i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），回退到 “吃” 之后，让大模型从这里生成下一个 </a:t>
            </a:r>
            <a:r>
              <a:rPr lang="en-US" altLang="zh-CN" sz="1600" b="0" i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token</a:t>
            </a:r>
            <a:r>
              <a:rPr lang="zh-CN" altLang="en-US" sz="1600" b="0" i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（即 “苹果”）。</a:t>
            </a:r>
            <a:endParaRPr lang="zh-CN" altLang="en-US" sz="1600" b="0" i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600" b="0" i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最终，大模型只需要 </a:t>
            </a:r>
            <a:r>
              <a:rPr lang="en-US" altLang="zh-CN" sz="1600" b="0" i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 </a:t>
            </a:r>
            <a:r>
              <a:rPr lang="zh-CN" altLang="en-US" sz="1600" b="0" i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次计算（</a:t>
            </a:r>
            <a:r>
              <a:rPr lang="en-US" altLang="zh-CN" sz="1600" b="0" i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 </a:t>
            </a:r>
            <a:r>
              <a:rPr lang="zh-CN" altLang="en-US" sz="1600" b="0" i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次验证 </a:t>
            </a:r>
            <a:r>
              <a:rPr lang="en-US" altLang="zh-CN" sz="1600" b="0" i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+ 1 </a:t>
            </a:r>
            <a:r>
              <a:rPr lang="zh-CN" altLang="en-US" sz="1600" b="0" i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次生成），而传统解码需要 </a:t>
            </a:r>
            <a:r>
              <a:rPr lang="en-US" altLang="zh-CN" sz="1600" b="0" i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 </a:t>
            </a:r>
            <a:r>
              <a:rPr lang="zh-CN" altLang="en-US" sz="1600" b="0" i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次，效率提升明显。</a:t>
            </a:r>
            <a:endParaRPr lang="zh-CN" altLang="en-US" sz="1600" b="0" i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3804"/>
  <p:timing>
    <p:tnLst>
      <p:par>
        <p:cTn id="1" dur="indefinite" restart="never" nodeType="tmRoot"/>
      </p:par>
    </p:tnLst>
    <p:bldLst>
      <p:bldP spid="1229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Box 27"/>
          <p:cNvSpPr txBox="1"/>
          <p:nvPr/>
        </p:nvSpPr>
        <p:spPr>
          <a:xfrm>
            <a:off x="1012825" y="176213"/>
            <a:ext cx="2849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l"/>
            <a:r>
              <a:rPr kumimoji="1"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实现与加速原理</a:t>
            </a:r>
            <a:endParaRPr lang="zh-CN" altLang="en-US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291" name="Freeform 5"/>
          <p:cNvSpPr/>
          <p:nvPr/>
        </p:nvSpPr>
        <p:spPr>
          <a:xfrm>
            <a:off x="427038" y="220663"/>
            <a:ext cx="474662" cy="56038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3" name="文本框 2"/>
          <p:cNvSpPr txBox="1"/>
          <p:nvPr/>
        </p:nvSpPr>
        <p:spPr>
          <a:xfrm>
            <a:off x="495300" y="1137285"/>
            <a:ext cx="5600065" cy="4939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底层逻辑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：大模型如何并行验证多个Token？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核心：复用KV缓存，实现“一次前向传播，验证一串候选”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草稿模型快速生成候选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：小模型（如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Qwen-0.6B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）生成k个候选Token（耗时可忽略）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大模型一次算全量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：将“原上下文 + 这k个候选Token”输入大模型，复用历史KV缓存（不用重新计算每个候选的上下文），一次前向传播输出k+1个位置的概率分布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从左到右做验证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：按顺序判断每个候选Token是否符合大模型的概率分布，接受则保留，拒绝则停止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023610" y="3882390"/>
            <a:ext cx="6096000" cy="2584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效率提升实例（k=4时）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传统自回归：生成5个Token，需调用大模型5次 → 耗时：5×0.8=4秒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投机推理：小模型生成4个候选（0.08秒）+ 大模型1次验证（0.8秒）→ 耗时：0.88秒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效率提升：4÷0.88≈4.5倍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aphicFrame>
        <p:nvGraphicFramePr>
          <p:cNvPr id="9" name="表格 8"/>
          <p:cNvGraphicFramePr/>
          <p:nvPr>
            <p:custDataLst>
              <p:tags r:id="rId1"/>
            </p:custDataLst>
          </p:nvPr>
        </p:nvGraphicFramePr>
        <p:xfrm>
          <a:off x="6151245" y="704215"/>
          <a:ext cx="5687060" cy="23171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1765"/>
                <a:gridCol w="1421765"/>
                <a:gridCol w="1421765"/>
                <a:gridCol w="1421765"/>
              </a:tblGrid>
              <a:tr h="65468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模型类型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模型举例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推理速度（</a:t>
                      </a:r>
                      <a:r>
                        <a:rPr lang="en-US" altLang="zh-CN"/>
                        <a:t>tokens/</a:t>
                      </a:r>
                      <a:r>
                        <a:rPr lang="zh-CN" altLang="en-US"/>
                        <a:t>秒）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生成</a:t>
                      </a:r>
                      <a:r>
                        <a:rPr lang="en-US" altLang="zh-CN"/>
                        <a:t>4</a:t>
                      </a:r>
                      <a:r>
                        <a:rPr lang="zh-CN" altLang="en-US"/>
                        <a:t>个</a:t>
                      </a:r>
                      <a:r>
                        <a:rPr lang="en-US" altLang="zh-CN"/>
                        <a:t>Token</a:t>
                      </a:r>
                      <a:r>
                        <a:rPr lang="zh-CN" altLang="en-US"/>
                        <a:t>耗时（秒）</a:t>
                      </a:r>
                      <a:endParaRPr lang="zh-CN" altLang="en-US"/>
                    </a:p>
                  </a:txBody>
                  <a:tcPr/>
                </a:tc>
              </a:tr>
              <a:tr h="83121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草稿模型（小模型）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Qwen-0.6B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50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0.08</a:t>
                      </a:r>
                      <a:endParaRPr lang="zh-CN" altLang="en-US"/>
                    </a:p>
                  </a:txBody>
                  <a:tcPr/>
                </a:tc>
              </a:tr>
              <a:tr h="83121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目标模型（大模型）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Qwen-8B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0.8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slow" advTm="3804"/>
  <p:timing>
    <p:tnLst>
      <p:par>
        <p:cTn id="1" dur="indefinite" restart="never" nodeType="tmRoot"/>
      </p:par>
    </p:tnLst>
    <p:bldLst>
      <p:bldP spid="1229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Box 27"/>
          <p:cNvSpPr txBox="1"/>
          <p:nvPr/>
        </p:nvSpPr>
        <p:spPr>
          <a:xfrm>
            <a:off x="1012825" y="176213"/>
            <a:ext cx="3611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l"/>
            <a:r>
              <a:rPr kumimoji="1"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正确率和速度的比较</a:t>
            </a:r>
            <a:endParaRPr lang="zh-CN" altLang="en-US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291" name="Freeform 5"/>
          <p:cNvSpPr/>
          <p:nvPr/>
        </p:nvSpPr>
        <p:spPr>
          <a:xfrm>
            <a:off x="427038" y="220663"/>
            <a:ext cx="474662" cy="56038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 sz="1800"/>
          </a:p>
        </p:txBody>
      </p:sp>
      <p:pic>
        <p:nvPicPr>
          <p:cNvPr id="2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1273493" y="3789045"/>
            <a:ext cx="9389110" cy="288544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45733" y="977900"/>
            <a:ext cx="4897120" cy="2999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准确率判断：不会下降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因为验证仍然是基于大模型的概率分布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即使草稿模型全部生成的结果大模型均无法接受，也就相当于大模型一个一个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token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进行生成。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368608" y="908685"/>
            <a:ext cx="6096000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速度的优化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草稿模型的生成效率相比于大模型可以忽略（足够小）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大模型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1次大模型前向传播生成k+1个Token原因：并行，无需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重新计算每个候选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 token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的上下文，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而是复用了完整的历史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 KV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缓存。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效率取决于草稿模型的生成准确率。（如果全部预测错，效率反而下降）。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</p:spTree>
  </p:cSld>
  <p:clrMapOvr>
    <a:masterClrMapping/>
  </p:clrMapOvr>
  <p:transition spd="slow" advTm="3804"/>
  <p:timing>
    <p:tnLst>
      <p:par>
        <p:cTn id="1" dur="indefinite" restart="never" nodeType="tmRoot"/>
      </p:par>
    </p:tnLst>
    <p:bldLst>
      <p:bldP spid="1229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Box 27"/>
          <p:cNvSpPr txBox="1"/>
          <p:nvPr/>
        </p:nvSpPr>
        <p:spPr>
          <a:xfrm>
            <a:off x="1012825" y="176213"/>
            <a:ext cx="3230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l"/>
            <a:r>
              <a:rPr kumimoji="1" lang="zh-CN" altLang="en-US" sz="3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如何选择草稿模型</a:t>
            </a:r>
            <a:endParaRPr lang="zh-CN" altLang="en-US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291" name="Freeform 5"/>
          <p:cNvSpPr/>
          <p:nvPr/>
        </p:nvSpPr>
        <p:spPr>
          <a:xfrm>
            <a:off x="427038" y="220663"/>
            <a:ext cx="474662" cy="56038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3" name="文本框 2"/>
          <p:cNvSpPr txBox="1"/>
          <p:nvPr/>
        </p:nvSpPr>
        <p:spPr>
          <a:xfrm>
            <a:off x="145733" y="977900"/>
            <a:ext cx="5890260" cy="42462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效率取决于草稿模型的生成准确率。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怎么提高草稿模型的生成准确率。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目前选择草稿模型主要有三种方法：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、使用一个现有的模型（例如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Qwen-0.6B)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、自己训练一个新的草稿模型（类似于蒸馏）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、使用原本模型的一部分，或者采用一些简单的方法（不使用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LLM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）来进行预测。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0433" y="2693035"/>
            <a:ext cx="424815" cy="42164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6953" y="780415"/>
            <a:ext cx="1003300" cy="99568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476683" y="1906905"/>
            <a:ext cx="29063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Target_model(Qwen-30B)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8653463" y="1555115"/>
            <a:ext cx="29063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Draft_model(Qwen-0.6B)</a:t>
            </a:r>
            <a:endParaRPr lang="en-US" altLang="zh-CN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6953" y="2406015"/>
            <a:ext cx="1003300" cy="99568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7147243" y="3438525"/>
            <a:ext cx="13436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ym typeface="+mn-ea"/>
              </a:rPr>
              <a:t>Qwen-30B</a:t>
            </a:r>
            <a:endParaRPr lang="zh-CN" altLang="en-US"/>
          </a:p>
        </p:txBody>
      </p:sp>
      <p:sp>
        <p:nvSpPr>
          <p:cNvPr id="11" name="右箭头 10"/>
          <p:cNvSpPr/>
          <p:nvPr/>
        </p:nvSpPr>
        <p:spPr>
          <a:xfrm>
            <a:off x="8653463" y="2829560"/>
            <a:ext cx="967740" cy="24384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8758873" y="2451100"/>
            <a:ext cx="7569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蒸馏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9459913" y="3297555"/>
            <a:ext cx="14579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Draft_model</a:t>
            </a:r>
            <a:endParaRPr lang="en-US" altLang="zh-CN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7893" y="4186555"/>
            <a:ext cx="1003300" cy="99568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7147243" y="5224145"/>
            <a:ext cx="13436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ym typeface="+mn-ea"/>
              </a:rPr>
              <a:t>Qwen-30B</a:t>
            </a:r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0433" y="4711700"/>
            <a:ext cx="647700" cy="381000"/>
          </a:xfrm>
          <a:prstGeom prst="rect">
            <a:avLst/>
          </a:prstGeom>
        </p:spPr>
      </p:pic>
      <p:sp>
        <p:nvSpPr>
          <p:cNvPr id="18" name="右箭头 17"/>
          <p:cNvSpPr/>
          <p:nvPr/>
        </p:nvSpPr>
        <p:spPr>
          <a:xfrm>
            <a:off x="8653463" y="4780280"/>
            <a:ext cx="967740" cy="24384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8702993" y="4411980"/>
            <a:ext cx="9175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一部分</a:t>
            </a:r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9621203" y="5224145"/>
            <a:ext cx="15303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ym typeface="+mn-ea"/>
              </a:rPr>
              <a:t>Draft_model</a:t>
            </a:r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0433" y="928370"/>
            <a:ext cx="424815" cy="421640"/>
          </a:xfrm>
          <a:prstGeom prst="rect">
            <a:avLst/>
          </a:prstGeom>
        </p:spPr>
      </p:pic>
    </p:spTree>
  </p:cSld>
  <p:clrMapOvr>
    <a:masterClrMapping/>
  </p:clrMapOvr>
  <p:transition spd="slow" advTm="3804"/>
  <p:timing>
    <p:tnLst>
      <p:par>
        <p:cTn id="1" dur="indefinite" restart="never" nodeType="tmRoot"/>
      </p:par>
    </p:tnLst>
    <p:bldLst>
      <p:bldP spid="1229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Box 27"/>
          <p:cNvSpPr txBox="1"/>
          <p:nvPr/>
        </p:nvSpPr>
        <p:spPr>
          <a:xfrm>
            <a:off x="1012825" y="176213"/>
            <a:ext cx="163703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l"/>
            <a:r>
              <a:rPr kumimoji="1"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Medusa</a:t>
            </a:r>
            <a:endParaRPr lang="zh-CN" altLang="en-US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291" name="Freeform 5"/>
          <p:cNvSpPr/>
          <p:nvPr/>
        </p:nvSpPr>
        <p:spPr>
          <a:xfrm>
            <a:off x="427038" y="220663"/>
            <a:ext cx="474662" cy="56038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3" name="文本框 2"/>
          <p:cNvSpPr txBox="1"/>
          <p:nvPr/>
        </p:nvSpPr>
        <p:spPr>
          <a:xfrm>
            <a:off x="145733" y="977900"/>
            <a:ext cx="5890260" cy="34150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Medusa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没有使用小模型作为草稿模型，而是在原模型的最后一层的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Embedding hidden layer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后加了多个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 Medusa Head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，也就是多个不同分支输出。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对于输入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token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序列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t0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、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t1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、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t2...ti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，原始的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head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根据输入预测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ti+1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，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Medusa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新增的第一个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head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根据输入预测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ti+2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的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token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，也就是跳过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token ti+1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预测下一个未来的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token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。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993" y="1093470"/>
            <a:ext cx="5913120" cy="4671060"/>
          </a:xfrm>
          <a:prstGeom prst="rect">
            <a:avLst/>
          </a:prstGeom>
        </p:spPr>
      </p:pic>
    </p:spTree>
  </p:cSld>
  <p:clrMapOvr>
    <a:masterClrMapping/>
  </p:clrMapOvr>
  <p:transition spd="slow" advTm="3804"/>
  <p:timing>
    <p:tnLst>
      <p:par>
        <p:cTn id="1" dur="indefinite" restart="never" nodeType="tmRoot"/>
      </p:par>
    </p:tnLst>
    <p:bldLst>
      <p:bldP spid="1229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Box 27"/>
          <p:cNvSpPr txBox="1"/>
          <p:nvPr/>
        </p:nvSpPr>
        <p:spPr>
          <a:xfrm>
            <a:off x="1012825" y="176213"/>
            <a:ext cx="163703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l"/>
            <a:r>
              <a:rPr kumimoji="1"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Medusa</a:t>
            </a:r>
            <a:endParaRPr lang="zh-CN" altLang="en-US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291" name="Freeform 5"/>
          <p:cNvSpPr/>
          <p:nvPr/>
        </p:nvSpPr>
        <p:spPr>
          <a:xfrm>
            <a:off x="427038" y="220663"/>
            <a:ext cx="474662" cy="56038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 sz="18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145733" y="1076960"/>
                <a:ext cx="6392545" cy="55105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 fontAlgn="auto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每个 MEDUSA 头是单层前馈网络（FFN）+ 残差连接的轻量结构，具体公式如下：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endParaRPr>
              </a:p>
              <a:p>
                <a:pPr marL="285750" indent="-285750" fontAlgn="auto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endParaRPr>
              </a:p>
              <a:p>
                <a:pPr marL="285750" indent="-285750" fontAlgn="auto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endParaRPr>
              </a:p>
              <a:p>
                <a:pPr marL="285750" indent="-285750" fontAlgn="auto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endParaRPr>
              </a:p>
              <a:p>
                <a:pPr marL="285750" indent="-285750" fontAlgn="auto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600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  <m:t>ℎ</m:t>
                        </m:r>
                      </m:e>
                      <m:sub>
                        <m:r>
                          <a:rPr lang="en-US" altLang="zh-CN" sz="1600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  <m:t>𝑡</m:t>
                        </m:r>
                      </m:sub>
                    </m:sSub>
                    <m:r>
                      <a:rPr lang="en-US" altLang="zh-CN" sz="1600" i="1" dirty="0">
                        <a:latin typeface="Cambria Math" panose="02040503050406030204" charset="0"/>
                        <a:ea typeface="微软雅黑" panose="020B0503020204020204" pitchFamily="34" charset="-122"/>
                        <a:cs typeface="Cambria Math" panose="02040503050406030204" charset="0"/>
                      </a:rPr>
                      <m:t>：</m:t>
                    </m:r>
                  </m:oMath>
                </a14:m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输入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原始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 LLM 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在第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 t 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步的最后隐藏状态（维度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d=LLM 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隐藏层输出维度）</a:t>
                </a:r>
                <a:endPara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endParaRPr>
              </a:p>
              <a:p>
                <a:pPr marL="285750" indent="-285750" fontAlgn="auto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sSubSup>
                          <m:sSubSupPr>
                            <m:ctrlPr>
                              <a:rPr lang="en-US" altLang="zh-CN" sz="1600" i="1" dirty="0">
                                <a:latin typeface="Cambria Math" panose="02040503050406030204" charset="0"/>
                                <a:ea typeface="微软雅黑" panose="020B0503020204020204" pitchFamily="34" charset="-122"/>
                                <a:cs typeface="Cambria Math" panose="02040503050406030204" charset="0"/>
                              </a:rPr>
                            </m:ctrlPr>
                          </m:sSubSupPr>
                          <m:e>
                            <m:r>
                              <a:rPr lang="en-US" altLang="zh-CN" sz="1600" i="1" dirty="0">
                                <a:latin typeface="Cambria Math" panose="02040503050406030204" charset="0"/>
                                <a:ea typeface="微软雅黑" panose="020B0503020204020204" pitchFamily="34" charset="-122"/>
                                <a:cs typeface="Cambria Math" panose="02040503050406030204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zh-CN" sz="1600" i="1" dirty="0">
                                <a:latin typeface="Cambria Math" panose="02040503050406030204" charset="0"/>
                                <a:ea typeface="微软雅黑" panose="020B0503020204020204" pitchFamily="34" charset="-122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1600" i="1" dirty="0">
                                <a:latin typeface="Cambria Math" panose="02040503050406030204" charset="0"/>
                                <a:ea typeface="微软雅黑" panose="020B0503020204020204" pitchFamily="34" charset="-122"/>
                                <a:cs typeface="Cambria Math" panose="02040503050406030204" charset="0"/>
                              </a:rPr>
                              <m:t>(</m:t>
                            </m:r>
                            <m:r>
                              <a:rPr lang="en-US" altLang="zh-CN" sz="1600" i="1" dirty="0">
                                <a:latin typeface="Cambria Math" panose="02040503050406030204" charset="0"/>
                                <a:ea typeface="微软雅黑" panose="020B0503020204020204" pitchFamily="34" charset="-122"/>
                                <a:cs typeface="Cambria Math" panose="02040503050406030204" charset="0"/>
                              </a:rPr>
                              <m:t>𝑘</m:t>
                            </m:r>
                            <m:r>
                              <a:rPr lang="en-US" altLang="zh-CN" sz="1600" i="1" dirty="0">
                                <a:latin typeface="Cambria Math" panose="02040503050406030204" charset="0"/>
                                <a:ea typeface="微软雅黑" panose="020B0503020204020204" pitchFamily="34" charset="-122"/>
                                <a:cs typeface="Cambria Math" panose="02040503050406030204" charset="0"/>
                              </a:rPr>
                              <m:t>)</m:t>
                            </m:r>
                          </m:sup>
                        </m:sSubSup>
                        <m:r>
                          <a:rPr lang="en-US" altLang="zh-CN" sz="1600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  <m:t>ℎ</m:t>
                        </m:r>
                      </m:e>
                      <m:sub>
                        <m:r>
                          <a:rPr lang="en-US" altLang="zh-CN" sz="1600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  <m:t>𝑡</m:t>
                        </m:r>
                      </m:sub>
                    </m:sSub>
                    <m:r>
                      <a:rPr lang="en-US" altLang="zh-CN" sz="1600" i="1" dirty="0">
                        <a:latin typeface="Cambria Math" panose="02040503050406030204" charset="0"/>
                        <a:ea typeface="微软雅黑" panose="020B0503020204020204" pitchFamily="34" charset="-122"/>
                        <a:cs typeface="Cambria Math" panose="02040503050406030204" charset="0"/>
                      </a:rPr>
                      <m:t>:</m:t>
                    </m:r>
                    <m:r>
                      <a:rPr lang="en-US" altLang="zh-CN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rPr>
                      <m:t>作用：</m:t>
                    </m:r>
                  </m:oMath>
                </a14:m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600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  <m:t>ℎ</m:t>
                        </m:r>
                      </m:e>
                      <m:sub>
                        <m:r>
                          <a:rPr lang="en-US" altLang="zh-CN" sz="1600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做特征变换，捕捉预测后续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 token 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所需的特定模式。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 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（参数量为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d*d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）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endParaRPr>
              </a:p>
              <a:p>
                <a:pPr marL="285750" indent="-285750" fontAlgn="auto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SiLU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：激活函数与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 Llama 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系列模型一致，保证兼容性和训练稳定性，后续加上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600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  <m:t>ℎ</m:t>
                        </m:r>
                      </m:e>
                      <m:sub>
                        <m:r>
                          <a:rPr lang="en-US" altLang="zh-CN" sz="1600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Cambria Math" panose="02040503050406030204" charset="0"/>
                    <a:ea typeface="微软雅黑" panose="020B0503020204020204" pitchFamily="34" charset="-122"/>
                    <a:cs typeface="Cambria Math" panose="02040503050406030204" charset="0"/>
                  </a:rPr>
                  <a:t>，是为了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保留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 LLM 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已学习的基础语义信息</a:t>
                </a:r>
                <a:endPara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endParaRPr>
              </a:p>
              <a:p>
                <a:pPr marL="285750" indent="-285750" fontAlgn="auto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600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</m:ctrlPr>
                      </m:sSubSupPr>
                      <m:e>
                        <m:r>
                          <a:rPr lang="en-US" altLang="zh-CN" sz="1600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  <m:t>𝑊</m:t>
                        </m:r>
                      </m:e>
                      <m:sub>
                        <m:r>
                          <a:rPr lang="en-US" altLang="zh-CN" sz="1600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  <m:t>2</m:t>
                        </m:r>
                      </m:sub>
                      <m:sup>
                        <m:r>
                          <a:rPr lang="en-US" altLang="zh-CN" sz="1600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zh-CN" sz="1600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  <m:t>𝑘</m:t>
                        </m:r>
                        <m:r>
                          <a:rPr lang="en-US" altLang="zh-CN" sz="1600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：将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d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维特征映射到词汇表维度，为每个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 token 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计算原始得分（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logits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）。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(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参数量为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d*V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，其中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V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是词表大小）</a:t>
                </a:r>
                <a:endPara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endParaRPr>
              </a:p>
              <a:p>
                <a:pPr marL="285750" indent="-285750" fontAlgn="auto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733" y="1076960"/>
                <a:ext cx="6392545" cy="5510530"/>
              </a:xfrm>
              <a:prstGeom prst="rect">
                <a:avLst/>
              </a:prstGeom>
              <a:blipFill rotWithShape="1">
                <a:blip r:embed="rId1"/>
                <a:stretch>
                  <a:fillRect l="-5" r="-7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493" y="2057400"/>
            <a:ext cx="5524500" cy="9144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921183" y="1076960"/>
            <a:ext cx="4064000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数量：最多五个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核心特征：轻量、对齐、低耦合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参数总量为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d*d+d*V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p:transition spd="slow" advTm="3804"/>
  <p:timing>
    <p:tnLst>
      <p:par>
        <p:cTn id="1" dur="indefinite" restart="never" nodeType="tmRoot"/>
      </p:par>
    </p:tnLst>
    <p:bldLst>
      <p:bldP spid="1229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Box 27"/>
          <p:cNvSpPr txBox="1"/>
          <p:nvPr/>
        </p:nvSpPr>
        <p:spPr>
          <a:xfrm>
            <a:off x="1012825" y="176213"/>
            <a:ext cx="163703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l"/>
            <a:r>
              <a:rPr kumimoji="1"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Medusa</a:t>
            </a:r>
            <a:endParaRPr lang="zh-CN" altLang="en-US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291" name="Freeform 5"/>
          <p:cNvSpPr/>
          <p:nvPr/>
        </p:nvSpPr>
        <p:spPr>
          <a:xfrm>
            <a:off x="427038" y="220663"/>
            <a:ext cx="474662" cy="56038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3" name="文本框 2"/>
          <p:cNvSpPr txBox="1"/>
          <p:nvPr/>
        </p:nvSpPr>
        <p:spPr>
          <a:xfrm>
            <a:off x="553403" y="548640"/>
            <a:ext cx="5890260" cy="54927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之前的预测方式会导致：不同的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Medusa head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间预测结果是不一致的。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即一个头预测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ti+1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，另一个预测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ti+2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，但他们之间并没有联系。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Medusa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引入了采样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topk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组合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candidate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的方式，把它们组成一个树状结构。再进行并行验证。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训练方法：</a:t>
            </a:r>
            <a:br>
              <a:rPr 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</a:b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论文提出两种核心训练策略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，适配不同计算资源和性能需求；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MEDUSA-1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：冻结骨干模型（轻量微调）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MEDUSA-2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：联合训练骨干模型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+ MEDUSA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头（性能最优）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8223" y="1977390"/>
            <a:ext cx="5852160" cy="3771900"/>
          </a:xfrm>
          <a:prstGeom prst="rect">
            <a:avLst/>
          </a:prstGeom>
        </p:spPr>
      </p:pic>
    </p:spTree>
  </p:cSld>
  <p:clrMapOvr>
    <a:masterClrMapping/>
  </p:clrMapOvr>
  <p:transition spd="slow" advTm="3804"/>
  <p:timing>
    <p:tnLst>
      <p:par>
        <p:cTn id="1" dur="indefinite" restart="never" nodeType="tmRoot"/>
      </p:par>
    </p:tnLst>
    <p:bldLst>
      <p:bldP spid="1229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Box 27"/>
          <p:cNvSpPr txBox="1"/>
          <p:nvPr/>
        </p:nvSpPr>
        <p:spPr>
          <a:xfrm>
            <a:off x="1012825" y="176213"/>
            <a:ext cx="163703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l"/>
            <a:r>
              <a:rPr kumimoji="1"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Medusa</a:t>
            </a:r>
            <a:endParaRPr lang="zh-CN" altLang="en-US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291" name="Freeform 5"/>
          <p:cNvSpPr/>
          <p:nvPr/>
        </p:nvSpPr>
        <p:spPr>
          <a:xfrm>
            <a:off x="427038" y="220663"/>
            <a:ext cx="474662" cy="56038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2" name="文本框 1"/>
          <p:cNvSpPr txBox="1"/>
          <p:nvPr/>
        </p:nvSpPr>
        <p:spPr>
          <a:xfrm>
            <a:off x="562293" y="1123950"/>
            <a:ext cx="6746240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实验结果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关键结论：文本越长，加速越显著。</a:t>
            </a:r>
            <a:endParaRPr lang="zh-CN" altLang="en-US"/>
          </a:p>
          <a:p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数据：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生成长度</a:t>
            </a:r>
            <a:r>
              <a:rPr lang="en-US" altLang="zh-CN"/>
              <a:t> vs </a:t>
            </a:r>
            <a:r>
              <a:rPr lang="zh-CN" altLang="en-US"/>
              <a:t>加速比：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256 token </a:t>
            </a:r>
            <a:r>
              <a:rPr lang="en-US" altLang="en-US"/>
              <a:t>→</a:t>
            </a:r>
            <a:r>
              <a:rPr lang="en-US" altLang="zh-CN"/>
              <a:t> 2.3x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512 token </a:t>
            </a:r>
            <a:r>
              <a:rPr lang="en-US" altLang="en-US"/>
              <a:t>→</a:t>
            </a:r>
            <a:r>
              <a:rPr lang="en-US" altLang="zh-CN"/>
              <a:t> 2.8x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1024 token </a:t>
            </a:r>
            <a:r>
              <a:rPr lang="en-US" altLang="en-US"/>
              <a:t>→</a:t>
            </a:r>
            <a:r>
              <a:rPr lang="en-US" altLang="zh-CN"/>
              <a:t> 3.5x</a:t>
            </a:r>
            <a:endParaRPr lang="en-US" altLang="zh-CN"/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604203" y="1569720"/>
          <a:ext cx="10485120" cy="1569720"/>
        </p:xfrm>
        <a:graphic>
          <a:graphicData uri="http://schemas.openxmlformats.org/drawingml/2006/table">
            <a:tbl>
              <a:tblPr/>
              <a:tblGrid>
                <a:gridCol w="2621280"/>
                <a:gridCol w="2621280"/>
                <a:gridCol w="2621280"/>
                <a:gridCol w="2621280"/>
              </a:tblGrid>
              <a:tr h="398145">
                <a:tc>
                  <a:txBody>
                    <a:bodyPr/>
                    <a:p>
                      <a:pPr>
                        <a:lnSpc>
                          <a:spcPts val="1440"/>
                        </a:lnSpc>
                      </a:pPr>
                      <a:r>
                        <a:rPr lang="zh-CN" altLang="en-US" sz="1100" b="0" i="0">
                          <a:solidFill>
                            <a:srgbClr val="191B1F"/>
                          </a:solidFill>
                          <a:latin typeface="-apple-system"/>
                          <a:ea typeface="-apple-system"/>
                        </a:rPr>
                        <a:t>指标</a:t>
                      </a:r>
                      <a:endParaRPr lang="zh-CN" altLang="en-US" sz="1100" b="0" i="0">
                        <a:solidFill>
                          <a:srgbClr val="191B1F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91757" marR="91757" marT="23177" marB="23177" anchor="ctr" anchorCtr="0">
                    <a:lnL w="7620" cap="flat" cmpd="sng">
                      <a:solidFill>
                        <a:srgbClr val="C4C7C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4C7C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4C7C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4C7CE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ECED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ts val="1440"/>
                        </a:lnSpc>
                      </a:pPr>
                      <a:r>
                        <a:rPr lang="zh-CN" altLang="en-US" sz="1100" b="0" i="0">
                          <a:solidFill>
                            <a:srgbClr val="191B1F"/>
                          </a:solidFill>
                          <a:latin typeface="-apple-system"/>
                          <a:ea typeface="-apple-system"/>
                        </a:rPr>
                        <a:t>原始模型</a:t>
                      </a:r>
                      <a:endParaRPr lang="zh-CN" altLang="en-US" sz="1100" b="0" i="0">
                        <a:solidFill>
                          <a:srgbClr val="191B1F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91757" marR="91757" marT="23177" marB="23177" anchor="ctr" anchorCtr="0">
                    <a:lnL w="7620" cap="flat" cmpd="sng">
                      <a:solidFill>
                        <a:srgbClr val="C4C7C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4C7C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4C7C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4C7CE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ECED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ts val="1440"/>
                        </a:lnSpc>
                      </a:pPr>
                      <a:r>
                        <a:rPr lang="en-US" altLang="zh-CN" sz="1100" b="0" i="0">
                          <a:solidFill>
                            <a:srgbClr val="191B1F"/>
                          </a:solidFill>
                          <a:latin typeface="-apple-system"/>
                          <a:ea typeface="-apple-system"/>
                        </a:rPr>
                        <a:t>MEDUSA-1</a:t>
                      </a:r>
                      <a:endParaRPr lang="en-US" altLang="zh-CN" sz="1100" b="0" i="0">
                        <a:solidFill>
                          <a:srgbClr val="191B1F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91757" marR="91757" marT="23177" marB="23177" anchor="ctr" anchorCtr="0">
                    <a:lnL w="7620" cap="flat" cmpd="sng">
                      <a:solidFill>
                        <a:srgbClr val="C4C7C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4C7C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4C7C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4C7CE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ECED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ts val="1440"/>
                        </a:lnSpc>
                      </a:pPr>
                      <a:r>
                        <a:rPr lang="en-US" altLang="zh-CN" sz="1100" b="0" i="0">
                          <a:solidFill>
                            <a:srgbClr val="191B1F"/>
                          </a:solidFill>
                          <a:latin typeface="-apple-system"/>
                          <a:ea typeface="-apple-system"/>
                        </a:rPr>
                        <a:t>MEDUSA-2</a:t>
                      </a:r>
                      <a:endParaRPr lang="en-US" altLang="zh-CN" sz="1100" b="0" i="0">
                        <a:solidFill>
                          <a:srgbClr val="191B1F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91757" marR="91757" marT="23177" marB="23177" anchor="ctr" anchorCtr="0">
                    <a:lnL w="7620" cap="flat" cmpd="sng">
                      <a:solidFill>
                        <a:srgbClr val="C4C7C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4C7C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4C7C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4C7CE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ECED"/>
                    </a:solidFill>
                  </a:tcPr>
                </a:tc>
              </a:tr>
              <a:tr h="390525">
                <a:tc>
                  <a:txBody>
                    <a:bodyPr/>
                    <a:p>
                      <a:pPr>
                        <a:lnSpc>
                          <a:spcPts val="1440"/>
                        </a:lnSpc>
                      </a:pPr>
                      <a:r>
                        <a:rPr lang="zh-CN" altLang="en-US" sz="1100" b="0" i="0">
                          <a:solidFill>
                            <a:srgbClr val="191B1F"/>
                          </a:solidFill>
                          <a:latin typeface="-apple-system"/>
                          <a:ea typeface="-apple-system"/>
                        </a:rPr>
                        <a:t>加速比</a:t>
                      </a:r>
                      <a:endParaRPr lang="zh-CN" altLang="en-US" sz="1100" b="0" i="0">
                        <a:solidFill>
                          <a:srgbClr val="191B1F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91757" marR="91757" marT="23177" marB="23177" anchor="ctr" anchorCtr="0">
                    <a:lnL w="7620" cap="flat" cmpd="sng">
                      <a:solidFill>
                        <a:srgbClr val="C4C7C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4C7C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4C7C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4C7CE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ECED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ts val="1440"/>
                        </a:lnSpc>
                      </a:pPr>
                      <a:r>
                        <a:rPr lang="en-US" altLang="zh-CN" sz="1100" b="0" i="0">
                          <a:solidFill>
                            <a:srgbClr val="191B1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1.0x</a:t>
                      </a:r>
                      <a:endParaRPr lang="en-US" altLang="zh-CN" sz="1100" b="0" i="0">
                        <a:solidFill>
                          <a:srgbClr val="191B1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757" marR="91757" marT="23177" marB="23177" anchor="ctr" anchorCtr="0">
                    <a:lnL w="7620" cap="flat" cmpd="sng">
                      <a:solidFill>
                        <a:srgbClr val="C4C7C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4C7C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4C7C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4C7C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440"/>
                        </a:lnSpc>
                      </a:pPr>
                      <a:r>
                        <a:rPr lang="en-US" altLang="zh-CN" sz="1100" b="0" i="0">
                          <a:solidFill>
                            <a:srgbClr val="191B1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2.2x</a:t>
                      </a:r>
                      <a:endParaRPr lang="en-US" altLang="zh-CN" sz="1100" b="0" i="0">
                        <a:solidFill>
                          <a:srgbClr val="191B1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757" marR="91757" marT="23177" marB="23177" anchor="ctr" anchorCtr="0">
                    <a:lnL w="7620" cap="flat" cmpd="sng">
                      <a:solidFill>
                        <a:srgbClr val="C4C7C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4C7C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4C7C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4C7C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440"/>
                        </a:lnSpc>
                      </a:pPr>
                      <a:r>
                        <a:rPr lang="en-US" altLang="zh-CN" sz="1100" b="0" i="0">
                          <a:solidFill>
                            <a:srgbClr val="191B1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2.8x</a:t>
                      </a:r>
                      <a:endParaRPr lang="en-US" altLang="zh-CN" sz="1100" b="0" i="0">
                        <a:solidFill>
                          <a:srgbClr val="191B1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757" marR="91757" marT="23177" marB="23177" anchor="ctr" anchorCtr="0">
                    <a:lnL w="7620" cap="flat" cmpd="sng">
                      <a:solidFill>
                        <a:srgbClr val="C4C7C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4C7C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4C7C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4C7C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0525">
                <a:tc>
                  <a:txBody>
                    <a:bodyPr/>
                    <a:p>
                      <a:pPr>
                        <a:lnSpc>
                          <a:spcPts val="1440"/>
                        </a:lnSpc>
                      </a:pPr>
                      <a:r>
                        <a:rPr lang="zh-CN" altLang="en-US" sz="1100" b="0" i="0">
                          <a:solidFill>
                            <a:srgbClr val="191B1F"/>
                          </a:solidFill>
                          <a:latin typeface="-apple-system"/>
                          <a:ea typeface="-apple-system"/>
                        </a:rPr>
                        <a:t>内存占用</a:t>
                      </a:r>
                      <a:endParaRPr lang="zh-CN" altLang="en-US" sz="1100" b="0" i="0">
                        <a:solidFill>
                          <a:srgbClr val="191B1F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91757" marR="91757" marT="23177" marB="23177" anchor="ctr" anchorCtr="0">
                    <a:lnL w="7620" cap="flat" cmpd="sng">
                      <a:solidFill>
                        <a:srgbClr val="C4C7C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4C7C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4C7C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4C7CE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ECED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ts val="1440"/>
                        </a:lnSpc>
                      </a:pPr>
                      <a:r>
                        <a:rPr lang="en-US" altLang="zh-CN" sz="1100" b="0" i="0">
                          <a:solidFill>
                            <a:srgbClr val="191B1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32GB</a:t>
                      </a:r>
                      <a:endParaRPr lang="en-US" altLang="zh-CN" sz="1100" b="0" i="0">
                        <a:solidFill>
                          <a:srgbClr val="191B1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757" marR="91757" marT="23177" marB="23177" anchor="ctr" anchorCtr="0">
                    <a:lnL w="7620" cap="flat" cmpd="sng">
                      <a:solidFill>
                        <a:srgbClr val="C4C7C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4C7C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4C7C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4C7C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440"/>
                        </a:lnSpc>
                      </a:pPr>
                      <a:r>
                        <a:rPr lang="en-US" altLang="zh-CN" sz="1100" b="0" i="0">
                          <a:solidFill>
                            <a:srgbClr val="191B1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34GB</a:t>
                      </a:r>
                      <a:endParaRPr lang="en-US" altLang="zh-CN" sz="1100" b="0" i="0">
                        <a:solidFill>
                          <a:srgbClr val="191B1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757" marR="91757" marT="23177" marB="23177" anchor="ctr" anchorCtr="0">
                    <a:lnL w="7620" cap="flat" cmpd="sng">
                      <a:solidFill>
                        <a:srgbClr val="C4C7C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4C7C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4C7C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4C7C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440"/>
                        </a:lnSpc>
                      </a:pPr>
                      <a:r>
                        <a:rPr lang="en-US" altLang="zh-CN" sz="1100" b="0" i="0">
                          <a:solidFill>
                            <a:srgbClr val="191B1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38GB</a:t>
                      </a:r>
                      <a:endParaRPr lang="en-US" altLang="zh-CN" sz="1100" b="0" i="0">
                        <a:solidFill>
                          <a:srgbClr val="191B1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757" marR="91757" marT="23177" marB="23177" anchor="ctr" anchorCtr="0">
                    <a:lnL w="7620" cap="flat" cmpd="sng">
                      <a:solidFill>
                        <a:srgbClr val="C4C7C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4C7C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4C7C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4C7C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0525">
                <a:tc>
                  <a:txBody>
                    <a:bodyPr/>
                    <a:p>
                      <a:pPr>
                        <a:lnSpc>
                          <a:spcPts val="1440"/>
                        </a:lnSpc>
                      </a:pPr>
                      <a:r>
                        <a:rPr lang="zh-CN" altLang="en-US" sz="1100" b="0" i="0">
                          <a:solidFill>
                            <a:srgbClr val="191B1F"/>
                          </a:solidFill>
                          <a:latin typeface="-apple-system"/>
                          <a:ea typeface="-apple-system"/>
                        </a:rPr>
                        <a:t>质量保持率</a:t>
                      </a:r>
                      <a:endParaRPr lang="zh-CN" altLang="en-US" sz="1100" b="0" i="0">
                        <a:solidFill>
                          <a:srgbClr val="191B1F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91757" marR="91757" marT="23177" marB="23177" anchor="ctr" anchorCtr="0">
                    <a:lnL w="7620" cap="flat" cmpd="sng">
                      <a:solidFill>
                        <a:srgbClr val="C4C7C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4C7C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4C7C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4C7CE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ECED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ts val="1440"/>
                        </a:lnSpc>
                      </a:pPr>
                      <a:r>
                        <a:rPr lang="en-US" altLang="zh-CN" sz="1100" b="0" i="0">
                          <a:solidFill>
                            <a:srgbClr val="191B1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100%</a:t>
                      </a:r>
                      <a:endParaRPr lang="en-US" altLang="zh-CN" sz="1100" b="0" i="0">
                        <a:solidFill>
                          <a:srgbClr val="191B1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757" marR="91757" marT="23177" marB="23177" anchor="ctr" anchorCtr="0">
                    <a:lnL w="7620" cap="flat" cmpd="sng">
                      <a:solidFill>
                        <a:srgbClr val="C4C7C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4C7C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4C7C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4C7C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440"/>
                        </a:lnSpc>
                      </a:pPr>
                      <a:r>
                        <a:rPr lang="en-US" altLang="zh-CN" sz="1100" b="0" i="0">
                          <a:solidFill>
                            <a:srgbClr val="191B1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98.7%</a:t>
                      </a:r>
                      <a:endParaRPr lang="en-US" altLang="zh-CN" sz="1100" b="0" i="0">
                        <a:solidFill>
                          <a:srgbClr val="191B1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757" marR="91757" marT="23177" marB="23177" anchor="ctr" anchorCtr="0">
                    <a:lnL w="7620" cap="flat" cmpd="sng">
                      <a:solidFill>
                        <a:srgbClr val="C4C7C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4C7C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4C7C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4C7C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440"/>
                        </a:lnSpc>
                      </a:pPr>
                      <a:r>
                        <a:rPr lang="en-US" altLang="zh-CN" sz="1100" b="0" i="0">
                          <a:solidFill>
                            <a:srgbClr val="191B1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99.2%</a:t>
                      </a:r>
                      <a:endParaRPr lang="en-US" altLang="zh-CN" sz="1100" b="0" i="0">
                        <a:solidFill>
                          <a:srgbClr val="191B1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757" marR="91757" marT="23177" marB="23177" anchor="ctr" anchorCtr="0">
                    <a:lnL w="7620" cap="flat" cmpd="sng">
                      <a:solidFill>
                        <a:srgbClr val="C4C7CE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4C7CE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4C7CE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4C7CE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 advTm="3804"/>
  <p:timing>
    <p:tnLst>
      <p:par>
        <p:cTn id="1" dur="indefinite" restart="never" nodeType="tmRoot"/>
      </p:par>
    </p:tnLst>
    <p:bldLst>
      <p:bldP spid="1229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Box 27"/>
          <p:cNvSpPr txBox="1"/>
          <p:nvPr/>
        </p:nvSpPr>
        <p:spPr>
          <a:xfrm>
            <a:off x="1012825" y="176213"/>
            <a:ext cx="182245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l"/>
            <a:r>
              <a:rPr kumimoji="1"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AdaSPEC</a:t>
            </a:r>
            <a:endParaRPr lang="zh-CN" altLang="en-US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291" name="Freeform 5"/>
          <p:cNvSpPr/>
          <p:nvPr/>
        </p:nvSpPr>
        <p:spPr>
          <a:xfrm>
            <a:off x="427038" y="220663"/>
            <a:ext cx="474662" cy="56038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2" name="文本框 1"/>
          <p:cNvSpPr txBox="1"/>
          <p:nvPr/>
        </p:nvSpPr>
        <p:spPr>
          <a:xfrm>
            <a:off x="413703" y="1112520"/>
            <a:ext cx="5177155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概述：针对知识蒸馏所做的优化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核心思想：在蒸馏阶段识别并过滤难以学习的 token，让知识迁移更聚焦、更有效。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方法实现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提出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选择性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token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过滤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机制，让草稿模型聚焦于易与目标模型对齐的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易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 tokens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，充分利用有限容量，分为两个阶段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9438" y="3832860"/>
            <a:ext cx="6294120" cy="2724150"/>
          </a:xfrm>
          <a:prstGeom prst="rect">
            <a:avLst/>
          </a:prstGeom>
        </p:spPr>
      </p:pic>
    </p:spTree>
  </p:cSld>
  <p:clrMapOvr>
    <a:masterClrMapping/>
  </p:clrMapOvr>
  <p:transition spd="slow" advTm="3804"/>
  <p:timing>
    <p:tnLst>
      <p:par>
        <p:cTn id="1" dur="indefinite" restart="never" nodeType="tmRoot"/>
      </p:par>
    </p:tnLst>
    <p:bldLst>
      <p:bldP spid="1229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Box 27"/>
          <p:cNvSpPr txBox="1"/>
          <p:nvPr/>
        </p:nvSpPr>
        <p:spPr>
          <a:xfrm>
            <a:off x="1012825" y="176213"/>
            <a:ext cx="182245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l"/>
            <a:r>
              <a:rPr kumimoji="1"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AdaSPEC</a:t>
            </a:r>
            <a:endParaRPr lang="zh-CN" altLang="en-US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291" name="Freeform 5"/>
          <p:cNvSpPr/>
          <p:nvPr/>
        </p:nvSpPr>
        <p:spPr>
          <a:xfrm>
            <a:off x="427038" y="220663"/>
            <a:ext cx="474662" cy="56038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 sz="18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121603" y="1089660"/>
                <a:ext cx="6219190" cy="5721350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p>
                <a:pPr marL="285750" indent="-285750" algn="l">
                  <a:lnSpc>
                    <a:spcPct val="150000"/>
                  </a:lnSpc>
                  <a:buClrTx/>
                  <a:buSzTx/>
                  <a:buFont typeface="Arial" panose="020B0604020202020204" pitchFamily="34" charset="0"/>
                  <a:buChar char="•"/>
                </a:pPr>
                <a:r>
                  <a:rPr lang="zh-CN" altLang="en-US" sz="1800" i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1. 初步构建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ea"/>
                  </a:rPr>
                  <a:t>得到</a:t>
                </a:r>
                <a:r>
                  <a:rPr lang="zh-CN" altLang="en-US" sz="1800" i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参考模型（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  <m:t>𝑀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  <m:t>𝑟𝑒𝑓</m:t>
                        </m:r>
                      </m:sub>
                    </m:sSub>
                  </m:oMath>
                </a14:m>
                <a:r>
                  <a:rPr lang="zh-CN" altLang="en-US" sz="1800" i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）</a:t>
                </a:r>
                <a:endParaRPr lang="zh-CN" altLang="en-US" sz="1800" i="0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endParaRPr>
              </a:p>
              <a:p>
                <a:pPr marL="285750" indent="-285750" algn="l">
                  <a:lnSpc>
                    <a:spcPct val="150000"/>
                  </a:lnSpc>
                  <a:buClrTx/>
                  <a:buSzTx/>
                  <a:buFont typeface="Arial" panose="020B0604020202020204" pitchFamily="34" charset="0"/>
                  <a:buChar char="•"/>
                </a:pPr>
                <a:r>
                  <a:rPr lang="zh-CN" altLang="en-US" sz="1800" b="0" i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参考模型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  <m:t>𝑀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  <m:t>𝑟𝑒𝑓</m:t>
                        </m:r>
                      </m:sub>
                    </m:sSub>
                  </m:oMath>
                </a14:m>
                <a:r>
                  <a:rPr lang="zh-CN" altLang="en-US" sz="1800" b="0" i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，是在下游任务数据集</a:t>
                </a:r>
                <a:r>
                  <a:rPr lang="en-US" altLang="zh-CN" sz="1800" b="0" i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D</a:t>
                </a:r>
                <a:r>
                  <a:rPr lang="zh-CN" altLang="en-US" sz="1800" b="0" i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上对目标模型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  <m:t>𝑀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  <m:t>𝑝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charset="0"/>
                        <a:ea typeface="微软雅黑" panose="020B0503020204020204" pitchFamily="34" charset="-122"/>
                        <a:cs typeface="Cambria Math" panose="02040503050406030204" charset="0"/>
                      </a:rPr>
                      <m:t>蒸馏得到</m:t>
                    </m:r>
                  </m:oMath>
                </a14:m>
                <a:r>
                  <a:rPr lang="zh-CN" altLang="en-US" dirty="0">
                    <a:latin typeface="Cambria Math" panose="02040503050406030204" charset="0"/>
                    <a:ea typeface="微软雅黑" panose="020B0503020204020204" pitchFamily="34" charset="-122"/>
                    <a:cs typeface="Cambria Math" panose="02040503050406030204" charset="0"/>
                  </a:rPr>
                  <a:t>。</a:t>
                </a:r>
                <a:endParaRPr lang="zh-CN" altLang="en-US" sz="1800" b="0" i="0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endParaRPr>
              </a:p>
              <a:p>
                <a:pPr marL="285750" indent="-285750" algn="l">
                  <a:lnSpc>
                    <a:spcPct val="150000"/>
                  </a:lnSpc>
                  <a:buClrTx/>
                  <a:buSzTx/>
                  <a:buFont typeface="Arial" panose="020B0604020202020204" pitchFamily="34" charset="0"/>
                  <a:buChar char="•"/>
                </a:pPr>
                <a:r>
                  <a:rPr lang="zh-CN" altLang="en-US" sz="1800" b="0" i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其中目标模型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  <m:t>𝑀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zh-CN" altLang="en-US" sz="1800" b="0" i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是已针对特定下游任务（如</a:t>
                </a:r>
                <a:r>
                  <a:rPr lang="en-US" altLang="zh-CN" sz="1800" b="0" i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 “</a:t>
                </a:r>
                <a:r>
                  <a:rPr lang="zh-CN" altLang="en-US" sz="1800" b="0" i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动漫风格生成</a:t>
                </a:r>
                <a:r>
                  <a:rPr lang="en-US" altLang="zh-CN" sz="1800" b="0" i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”“</a:t>
                </a:r>
                <a:r>
                  <a:rPr lang="zh-CN" altLang="en-US" sz="1800" b="0" i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医学图像修复</a:t>
                </a:r>
                <a:r>
                  <a:rPr lang="en-US" altLang="zh-CN" sz="1800" b="0" i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”</a:t>
                </a:r>
                <a:r>
                  <a:rPr lang="zh-CN" altLang="en-US" sz="1800" b="0" i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）微调过的大模型，性能强但参数量大、推理慢。</a:t>
                </a:r>
                <a:endParaRPr lang="zh-CN" altLang="en-US" sz="1800" b="0" i="0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endParaRPr>
              </a:p>
              <a:p>
                <a:pPr marL="285750" indent="-285750" algn="l">
                  <a:lnSpc>
                    <a:spcPct val="150000"/>
                  </a:lnSpc>
                  <a:buClrTx/>
                  <a:buSzTx/>
                  <a:buFont typeface="Arial" panose="020B0604020202020204" pitchFamily="34" charset="0"/>
                  <a:buChar char="•"/>
                </a:pPr>
                <a:r>
                  <a:rPr lang="zh-CN" altLang="en-US" sz="1800" b="0" i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这一步的目的是：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  <m:t>𝑀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  <m:t>𝑟𝑒𝑓</m:t>
                        </m:r>
                      </m:sub>
                    </m:sSub>
                  </m:oMath>
                </a14:m>
                <a:r>
                  <a:rPr lang="zh-CN" altLang="en-US" sz="1800" b="0" i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是经过</a:t>
                </a:r>
                <a:r>
                  <a:rPr lang="en-US" altLang="zh-CN" sz="1800" b="0" i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 “</a:t>
                </a:r>
                <a:r>
                  <a:rPr lang="zh-CN" altLang="en-US" sz="1800" b="0" i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一次蒸馏</a:t>
                </a:r>
                <a:r>
                  <a:rPr lang="en-US" altLang="zh-CN" sz="1800" b="0" i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” </a:t>
                </a:r>
                <a:r>
                  <a:rPr lang="zh-CN" altLang="en-US" sz="1800" b="0" i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的中间模型，其分布更</a:t>
                </a:r>
                <a:r>
                  <a:rPr lang="zh-CN" sz="1800" b="0" i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精炼，</a:t>
                </a:r>
                <a:r>
                  <a:rPr lang="zh-CN" altLang="en-US" sz="1800" b="0" i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能为后续小模型的</a:t>
                </a:r>
                <a:r>
                  <a:rPr lang="en-US" altLang="zh-CN" sz="1800" b="0" i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 “</a:t>
                </a:r>
                <a:r>
                  <a:rPr lang="zh-CN" altLang="en-US" sz="1800" b="0" i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选择性学习</a:t>
                </a:r>
                <a:r>
                  <a:rPr lang="en-US" altLang="zh-CN" sz="1800" b="0" i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” </a:t>
                </a:r>
                <a:r>
                  <a:rPr lang="zh-CN" altLang="en-US" sz="1800" b="0" i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提供更清晰的</a:t>
                </a:r>
                <a:r>
                  <a:rPr lang="en-US" altLang="zh-CN" sz="1800" b="0" i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 “</a:t>
                </a:r>
                <a:r>
                  <a:rPr lang="zh-CN" altLang="en-US" sz="1800" b="0" i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标杆</a:t>
                </a:r>
                <a:r>
                  <a:rPr lang="en-US" altLang="zh-CN" sz="1800" b="0" i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”</a:t>
                </a:r>
                <a:r>
                  <a:rPr lang="zh-CN" altLang="en-US" sz="1800" b="0" i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。</a:t>
                </a:r>
                <a:endParaRPr lang="zh-CN" altLang="en-US" sz="1800" b="0" i="0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endParaRPr>
              </a:p>
              <a:p>
                <a:pPr marL="285750" indent="-285750" algn="l">
                  <a:lnSpc>
                    <a:spcPct val="150000"/>
                  </a:lnSpc>
                  <a:buClrTx/>
                  <a:buSzTx/>
                  <a:buFont typeface="Arial" panose="020B0604020202020204" pitchFamily="34" charset="0"/>
                  <a:buChar char="•"/>
                </a:pPr>
                <a:endParaRPr lang="zh-CN" altLang="en-US" sz="1800" b="0" i="0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603" y="1089660"/>
                <a:ext cx="6219190" cy="5721350"/>
              </a:xfrm>
              <a:prstGeom prst="rect">
                <a:avLst/>
              </a:prstGeom>
              <a:blipFill rotWithShape="1">
                <a:blip r:embed="rId1"/>
                <a:stretch>
                  <a:fillRect l="-5" r="-4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0793" y="1584960"/>
            <a:ext cx="5250180" cy="426720"/>
          </a:xfrm>
          <a:prstGeom prst="rect">
            <a:avLst/>
          </a:prstGeom>
        </p:spPr>
      </p:pic>
    </p:spTree>
  </p:cSld>
  <p:clrMapOvr>
    <a:masterClrMapping/>
  </p:clrMapOvr>
  <p:transition spd="slow" advTm="3804"/>
  <p:timing>
    <p:tnLst>
      <p:par>
        <p:cTn id="1" dur="indefinite" restart="never" nodeType="tmRoot"/>
      </p:par>
    </p:tnLst>
    <p:bldLst>
      <p:bldP spid="1229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Box 27"/>
          <p:cNvSpPr txBox="1"/>
          <p:nvPr/>
        </p:nvSpPr>
        <p:spPr>
          <a:xfrm>
            <a:off x="1012825" y="176213"/>
            <a:ext cx="182245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l"/>
            <a:r>
              <a:rPr kumimoji="1"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AdaSPEC</a:t>
            </a:r>
            <a:endParaRPr lang="zh-CN" altLang="en-US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291" name="Freeform 5"/>
          <p:cNvSpPr/>
          <p:nvPr/>
        </p:nvSpPr>
        <p:spPr>
          <a:xfrm>
            <a:off x="427038" y="220663"/>
            <a:ext cx="474662" cy="56038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2" name="文本框 1"/>
          <p:cNvSpPr txBox="1"/>
          <p:nvPr/>
        </p:nvSpPr>
        <p:spPr>
          <a:xfrm>
            <a:off x="413703" y="1112520"/>
            <a:ext cx="5177155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概述：针对知识蒸馏所做的优化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核心思想：在蒸馏阶段识别并过滤难以学习的 token，让知识迁移更聚焦、更有效。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方法实现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提出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“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选择性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token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过滤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机制，让草稿模型聚焦于易与目标模型对齐的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“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易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 tokens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，充分利用有限容量，分为两个阶段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9438" y="3832860"/>
            <a:ext cx="6294120" cy="2724150"/>
          </a:xfrm>
          <a:prstGeom prst="rect">
            <a:avLst/>
          </a:prstGeom>
        </p:spPr>
      </p:pic>
    </p:spTree>
  </p:cSld>
  <p:clrMapOvr>
    <a:masterClrMapping/>
  </p:clrMapOvr>
  <p:transition spd="slow" advTm="3804"/>
  <p:timing>
    <p:tnLst>
      <p:par>
        <p:cTn id="1" dur="indefinite" restart="never" nodeType="tmRoot"/>
      </p:par>
    </p:tnLst>
    <p:bldLst>
      <p:bldP spid="1229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Box 27"/>
          <p:cNvSpPr txBox="1"/>
          <p:nvPr/>
        </p:nvSpPr>
        <p:spPr>
          <a:xfrm>
            <a:off x="1012825" y="176213"/>
            <a:ext cx="182245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l"/>
            <a:r>
              <a:rPr kumimoji="1"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AdaSPEC</a:t>
            </a:r>
            <a:endParaRPr lang="zh-CN" altLang="en-US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291" name="Freeform 5"/>
          <p:cNvSpPr/>
          <p:nvPr/>
        </p:nvSpPr>
        <p:spPr>
          <a:xfrm>
            <a:off x="427038" y="220663"/>
            <a:ext cx="474662" cy="56038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 sz="18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2503" y="3809365"/>
            <a:ext cx="5978525" cy="258762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121603" y="1089660"/>
                <a:ext cx="6219190" cy="5721350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p>
                <a:pPr marL="285750" indent="-285750" algn="l">
                  <a:lnSpc>
                    <a:spcPct val="150000"/>
                  </a:lnSpc>
                  <a:buClrTx/>
                  <a:buSzTx/>
                  <a:buFont typeface="Arial" panose="020B0604020202020204" pitchFamily="34" charset="0"/>
                  <a:buChar char="•"/>
                </a:pPr>
                <a:r>
                  <a:rPr lang="zh-CN" altLang="en-US" sz="1800" i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2. 选择性草稿模型蒸馏</a:t>
                </a:r>
                <a:endParaRPr lang="zh-CN" altLang="en-US" sz="1800" i="0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endParaRPr>
              </a:p>
              <a:p>
                <a:pPr marL="285750" indent="-285750" algn="l">
                  <a:lnSpc>
                    <a:spcPct val="150000"/>
                  </a:lnSpc>
                  <a:buClrTx/>
                  <a:buSzTx/>
                  <a:buFont typeface="Arial" panose="020B0604020202020204" pitchFamily="34" charset="0"/>
                  <a:buChar char="•"/>
                </a:pPr>
                <a:r>
                  <a:rPr lang="zh-CN" altLang="en-US" sz="1800" i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草稿模型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  <m:t>𝑀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zh-CN" altLang="en-US" sz="1800" i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是最终要优化的</a:t>
                </a:r>
                <a:r>
                  <a:rPr lang="en-US" altLang="zh-CN" sz="1800" i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 “</a:t>
                </a:r>
                <a:r>
                  <a:rPr lang="zh-CN" altLang="en-US" sz="1800" i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小模型</a:t>
                </a:r>
                <a:r>
                  <a:rPr lang="en-US" altLang="zh-CN" sz="1800" i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”</a:t>
                </a:r>
                <a:r>
                  <a:rPr lang="zh-CN" altLang="en-US" sz="1800" i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这一步的核心是筛选出最有价值的</a:t>
                </a:r>
                <a:r>
                  <a:rPr lang="en-US" altLang="zh-CN" sz="1800" i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 “</a:t>
                </a:r>
                <a:r>
                  <a:rPr lang="zh-CN" altLang="en-US" sz="1800" i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可学习</a:t>
                </a:r>
                <a:r>
                  <a:rPr lang="en-US" altLang="zh-CN" sz="1800" i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 tokens” </a:t>
                </a:r>
                <a:r>
                  <a:rPr lang="zh-CN" altLang="en-US" sz="1800" i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，仅用这些</a:t>
                </a:r>
                <a:r>
                  <a:rPr lang="en-US" altLang="zh-CN" sz="1800" i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 tokens </a:t>
                </a:r>
                <a:r>
                  <a:rPr lang="zh-CN" altLang="en-US" sz="1800" i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蒸馏，避免无差别学习导致的效率低下或性能损失。</a:t>
                </a:r>
                <a:endParaRPr lang="zh-CN" altLang="en-US" sz="1800" i="0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endParaRPr>
              </a:p>
              <a:p>
                <a:pPr marL="285750" indent="-285750" algn="l">
                  <a:lnSpc>
                    <a:spcPct val="150000"/>
                  </a:lnSpc>
                  <a:buClrTx/>
                  <a:buSzTx/>
                  <a:buFont typeface="Arial" panose="020B0604020202020204" pitchFamily="34" charset="0"/>
                  <a:buChar char="•"/>
                </a:pPr>
                <a:r>
                  <a:rPr lang="zh-CN" altLang="en-US" sz="1800" i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筛选</a:t>
                </a:r>
                <a:r>
                  <a:rPr lang="en-US" altLang="zh-CN" sz="1800" i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tokens</a:t>
                </a:r>
                <a:r>
                  <a:rPr lang="zh-CN" altLang="en-US" sz="1800" i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：首先针对每个</a:t>
                </a:r>
                <a:r>
                  <a:rPr lang="en-US" altLang="zh-CN" sz="1800" i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token</a:t>
                </a:r>
                <a:r>
                  <a:rPr lang="zh-CN" altLang="en-US" sz="1800" i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，计算两个</a:t>
                </a:r>
                <a:r>
                  <a:rPr lang="en-US" altLang="zh-CN" sz="1800" i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 KL </a:t>
                </a:r>
                <a:r>
                  <a:rPr lang="zh-CN" altLang="en-US" sz="1800" i="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</a:rPr>
                  <a:t>散度损失，用于衡量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  <m:t>𝑀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zh-CN" altLang="en-US" dirty="0">
                    <a:latin typeface="Cambria Math" panose="02040503050406030204" charset="0"/>
                    <a:ea typeface="微软雅黑" panose="020B0503020204020204" pitchFamily="34" charset="-122"/>
                    <a:cs typeface="Cambria Math" panose="02040503050406030204" charset="0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  <m:t>𝑀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  <m:t>𝑟𝑒𝑓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charset="0"/>
                        <a:ea typeface="微软雅黑" panose="020B0503020204020204" pitchFamily="34" charset="-122"/>
                        <a:cs typeface="Cambria Math" panose="02040503050406030204" charset="0"/>
                      </a:rPr>
                      <m:t>与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  <m:t>𝑀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  <m:t>𝑝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charset="0"/>
                        <a:ea typeface="微软雅黑" panose="020B0503020204020204" pitchFamily="34" charset="-122"/>
                        <a:cs typeface="Cambria Math" panose="02040503050406030204" charset="0"/>
                      </a:rPr>
                      <m:t>的差距</m:t>
                    </m:r>
                  </m:oMath>
                </a14:m>
                <a:r>
                  <a:rPr lang="zh-CN" altLang="en-US" dirty="0">
                    <a:latin typeface="Cambria Math" panose="02040503050406030204" charset="0"/>
                    <a:ea typeface="微软雅黑" panose="020B0503020204020204" pitchFamily="34" charset="-122"/>
                    <a:cs typeface="Cambria Math" panose="02040503050406030204" charset="0"/>
                  </a:rPr>
                  <a:t>。</a:t>
                </a:r>
                <a:endParaRPr lang="zh-CN" altLang="en-US" sz="1800" i="0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endParaRPr>
              </a:p>
              <a:p>
                <a:pPr marL="285750" indent="-285750" algn="l">
                  <a:lnSpc>
                    <a:spcPct val="150000"/>
                  </a:lnSpc>
                  <a:buClrTx/>
                  <a:buSzTx/>
                  <a:buFont typeface="Arial" panose="020B0604020202020204" pitchFamily="34" charset="0"/>
                  <a:buChar char="•"/>
                </a:pPr>
                <a:endParaRPr lang="zh-CN" altLang="en-US" sz="1800" i="0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endParaRPr>
              </a:p>
              <a:p>
                <a:pPr marL="285750" indent="-285750" algn="l">
                  <a:lnSpc>
                    <a:spcPct val="150000"/>
                  </a:lnSpc>
                  <a:buClrTx/>
                  <a:buSzTx/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ea"/>
                  </a:rPr>
                  <a:t>基于过滤后的数据集（仅保留 “易” tokens）训练草稿模型（选择前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ea"/>
                  </a:rPr>
                  <a:t>k%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ea"/>
                  </a:rPr>
                  <a:t>好学的数据），损失函数仅计算选中 tokens 的 KL 散度，确保模型资源集中于可有效对齐的 tokens。</a:t>
                </a:r>
                <a:endParaRPr lang="zh-CN" altLang="en-US" b="0" i="0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endParaRPr>
              </a:p>
              <a:p>
                <a:pPr marL="285750" indent="-285750" algn="l">
                  <a:lnSpc>
                    <a:spcPct val="150000"/>
                  </a:lnSpc>
                  <a:buClrTx/>
                  <a:buSzTx/>
                  <a:buFont typeface="Arial" panose="020B0604020202020204" pitchFamily="34" charset="0"/>
                  <a:buChar char="•"/>
                </a:pPr>
                <a:endParaRPr lang="zh-CN" altLang="en-US" sz="1800" b="0" i="0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603" y="1089660"/>
                <a:ext cx="6219190" cy="5721350"/>
              </a:xfrm>
              <a:prstGeom prst="rect">
                <a:avLst/>
              </a:prstGeom>
              <a:blipFill rotWithShape="1">
                <a:blip r:embed="rId2"/>
                <a:stretch>
                  <a:fillRect l="-5" r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3683" y="3124200"/>
            <a:ext cx="4876800" cy="6096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2503" y="1089660"/>
            <a:ext cx="5638800" cy="76962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4178" y="1997710"/>
            <a:ext cx="3550920" cy="4953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4178" y="2682875"/>
            <a:ext cx="4248150" cy="251460"/>
          </a:xfrm>
          <a:prstGeom prst="rect">
            <a:avLst/>
          </a:prstGeom>
        </p:spPr>
      </p:pic>
    </p:spTree>
  </p:cSld>
  <p:clrMapOvr>
    <a:masterClrMapping/>
  </p:clrMapOvr>
  <p:transition spd="slow" advTm="3804"/>
  <p:timing>
    <p:tnLst>
      <p:par>
        <p:cTn id="1" dur="indefinite" restart="never" nodeType="tmRoot"/>
      </p:par>
    </p:tnLst>
    <p:bldLst>
      <p:bldP spid="1229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Box 27"/>
          <p:cNvSpPr txBox="1"/>
          <p:nvPr/>
        </p:nvSpPr>
        <p:spPr>
          <a:xfrm>
            <a:off x="1012825" y="176213"/>
            <a:ext cx="182245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l"/>
            <a:r>
              <a:rPr kumimoji="1"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AdaSPEC</a:t>
            </a:r>
            <a:endParaRPr lang="zh-CN" altLang="en-US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291" name="Freeform 5"/>
          <p:cNvSpPr/>
          <p:nvPr/>
        </p:nvSpPr>
        <p:spPr>
          <a:xfrm>
            <a:off x="427038" y="220663"/>
            <a:ext cx="474662" cy="56038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6" name="文本框 5"/>
          <p:cNvSpPr txBox="1"/>
          <p:nvPr/>
        </p:nvSpPr>
        <p:spPr>
          <a:xfrm>
            <a:off x="121603" y="1089660"/>
            <a:ext cx="6222365" cy="2168525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800" i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实验结果：</a:t>
            </a:r>
            <a:endParaRPr lang="zh-CN" altLang="en-US" sz="1800" i="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800" b="0" i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接受率提升：</a:t>
            </a:r>
            <a:r>
              <a:rPr lang="en-US" altLang="zh-CN" sz="1800" b="0" i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AdaSPEC </a:t>
            </a:r>
            <a:r>
              <a:rPr lang="zh-CN" altLang="en-US" sz="1800" b="0" i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在所有任务和模型配置中均优于</a:t>
            </a:r>
            <a:r>
              <a:rPr lang="en-US" altLang="zh-CN" sz="1800" b="0" i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DistillSpec</a:t>
            </a:r>
            <a:r>
              <a:rPr lang="zh-CN" altLang="en-US" sz="1800" b="0" i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，接受率最高提升</a:t>
            </a:r>
            <a:r>
              <a:rPr lang="en-US" altLang="zh-CN" sz="1800" b="0" i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15%</a:t>
            </a:r>
            <a:r>
              <a:rPr lang="zh-CN" altLang="en-US" sz="1800" b="0" i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（如</a:t>
            </a:r>
            <a:r>
              <a:rPr lang="en-US" altLang="zh-CN" sz="1800" b="0" i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MBPP </a:t>
            </a:r>
            <a:r>
              <a:rPr lang="zh-CN" altLang="en-US" sz="1800" b="0" i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任务中</a:t>
            </a:r>
            <a:r>
              <a:rPr lang="en-US" altLang="zh-CN" sz="1800" b="0" i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Pythia-31M/1.4B </a:t>
            </a:r>
            <a:r>
              <a:rPr lang="zh-CN" altLang="en-US" sz="1800" b="0" i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配置下，最优轮次训练接受率从</a:t>
            </a:r>
            <a:r>
              <a:rPr lang="en-US" altLang="zh-CN" sz="1800" b="0" i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49.88% </a:t>
            </a:r>
            <a:r>
              <a:rPr lang="zh-CN" altLang="en-US" sz="1800" b="0" i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提升至</a:t>
            </a:r>
            <a:r>
              <a:rPr lang="en-US" altLang="zh-CN" sz="1800" b="0" i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65.12%</a:t>
            </a:r>
            <a:r>
              <a:rPr lang="zh-CN" altLang="en-US" sz="1800" b="0" i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）。</a:t>
            </a:r>
            <a:endParaRPr lang="zh-CN" altLang="en-US" sz="1800" b="0" i="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6403" y="3474720"/>
            <a:ext cx="8070215" cy="2426970"/>
          </a:xfrm>
          <a:prstGeom prst="rect">
            <a:avLst/>
          </a:prstGeom>
        </p:spPr>
      </p:pic>
    </p:spTree>
  </p:cSld>
  <p:clrMapOvr>
    <a:masterClrMapping/>
  </p:clrMapOvr>
  <p:transition spd="slow" advTm="3804"/>
  <p:timing>
    <p:tnLst>
      <p:par>
        <p:cTn id="1" dur="indefinite" restart="never" nodeType="tmRoot"/>
      </p:par>
    </p:tnLst>
    <p:bldLst>
      <p:bldP spid="1229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Box 27"/>
          <p:cNvSpPr txBox="1"/>
          <p:nvPr/>
        </p:nvSpPr>
        <p:spPr>
          <a:xfrm>
            <a:off x="1012825" y="176213"/>
            <a:ext cx="182245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l"/>
            <a:r>
              <a:rPr kumimoji="1" lang="en-US" altLang="zh-CN" sz="3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AdaSPEC</a:t>
            </a:r>
            <a:endParaRPr lang="zh-CN" altLang="en-US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291" name="Freeform 5"/>
          <p:cNvSpPr/>
          <p:nvPr/>
        </p:nvSpPr>
        <p:spPr>
          <a:xfrm>
            <a:off x="427038" y="220663"/>
            <a:ext cx="474662" cy="56038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3" name="文本框 2"/>
          <p:cNvSpPr txBox="1"/>
          <p:nvPr/>
        </p:nvSpPr>
        <p:spPr>
          <a:xfrm>
            <a:off x="121603" y="1089660"/>
            <a:ext cx="6222365" cy="1753235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800" b="0" i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推理速度提升：通过</a:t>
            </a:r>
            <a:r>
              <a:rPr lang="en-US" altLang="zh-CN" sz="1800" b="0" i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vLLM </a:t>
            </a:r>
            <a:r>
              <a:rPr lang="zh-CN" altLang="en-US" sz="1800" b="0" i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引擎在</a:t>
            </a:r>
            <a:r>
              <a:rPr lang="en-US" altLang="zh-CN" sz="1800" b="0" i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A100 GPU </a:t>
            </a:r>
            <a:r>
              <a:rPr lang="zh-CN" altLang="en-US" sz="1800" b="0" i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测试，</a:t>
            </a:r>
            <a:r>
              <a:rPr lang="en-US" altLang="zh-CN" sz="1800" b="0" i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AdaSPEC </a:t>
            </a:r>
            <a:r>
              <a:rPr lang="zh-CN" altLang="en-US" sz="1800" b="0" i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实现</a:t>
            </a:r>
            <a:r>
              <a:rPr lang="en-US" altLang="zh-CN" sz="1800" b="0" i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10%~20% </a:t>
            </a:r>
            <a:r>
              <a:rPr lang="zh-CN" altLang="en-US" sz="1800" b="0" i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的端到端解码加速（如</a:t>
            </a:r>
            <a:r>
              <a:rPr lang="en-US" altLang="zh-CN" sz="1800" b="0" i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CNN/Daily Mail </a:t>
            </a:r>
            <a:r>
              <a:rPr lang="zh-CN" altLang="en-US" sz="1800" b="0" i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任务中，</a:t>
            </a:r>
            <a:r>
              <a:rPr lang="en-US" altLang="zh-CN" sz="1800" b="0" i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tokens/s </a:t>
            </a:r>
            <a:r>
              <a:rPr lang="zh-CN" altLang="en-US" sz="1800" b="0" i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从</a:t>
            </a:r>
            <a:r>
              <a:rPr lang="en-US" altLang="zh-CN" sz="1800" b="0" i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248.49 </a:t>
            </a:r>
            <a:r>
              <a:rPr lang="zh-CN" altLang="en-US" sz="1800" b="0" i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提升至</a:t>
            </a:r>
            <a:r>
              <a:rPr lang="en-US" altLang="zh-CN" sz="1800" b="0" i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283.50</a:t>
            </a:r>
            <a:r>
              <a:rPr lang="zh-CN" altLang="en-US" sz="1800" b="0" i="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）。</a:t>
            </a:r>
            <a:endParaRPr lang="zh-CN" altLang="en-US" sz="1800" b="0" i="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1803" y="2983865"/>
            <a:ext cx="10359390" cy="3571875"/>
          </a:xfrm>
          <a:prstGeom prst="rect">
            <a:avLst/>
          </a:prstGeom>
        </p:spPr>
      </p:pic>
    </p:spTree>
  </p:cSld>
  <p:clrMapOvr>
    <a:masterClrMapping/>
  </p:clrMapOvr>
  <p:transition spd="slow" advTm="3804"/>
  <p:timing>
    <p:tnLst>
      <p:par>
        <p:cTn id="1" dur="indefinite" restart="never" nodeType="tmRoot"/>
      </p:par>
    </p:tnLst>
    <p:bldLst>
      <p:bldP spid="1229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/>
          <p:cNvSpPr txBox="1"/>
          <p:nvPr/>
        </p:nvSpPr>
        <p:spPr>
          <a:xfrm>
            <a:off x="769938" y="2311400"/>
            <a:ext cx="10728325" cy="81756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algn="ctr"/>
            <a:r>
              <a:rPr lang="zh-CN" altLang="en-US" sz="6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感谢您的批评指正</a:t>
            </a:r>
            <a:endParaRPr lang="zh-CN" altLang="en-US" sz="60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74" name="TextBox 35"/>
          <p:cNvSpPr txBox="1"/>
          <p:nvPr/>
        </p:nvSpPr>
        <p:spPr>
          <a:xfrm>
            <a:off x="4893810" y="3911569"/>
            <a:ext cx="2871787" cy="64516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sz="24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李亦非</a:t>
            </a:r>
            <a:endParaRPr lang="zh-CN" sz="24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81" name="Rectangle 5"/>
          <p:cNvSpPr/>
          <p:nvPr/>
        </p:nvSpPr>
        <p:spPr>
          <a:xfrm>
            <a:off x="34925" y="6745288"/>
            <a:ext cx="12196763" cy="41275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anchor="t"/>
          <a:lstStyle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6158" name="直接连接符 2"/>
          <p:cNvCxnSpPr/>
          <p:nvPr/>
        </p:nvCxnSpPr>
        <p:spPr>
          <a:xfrm>
            <a:off x="1201738" y="2159000"/>
            <a:ext cx="9864725" cy="0"/>
          </a:xfrm>
          <a:prstGeom prst="line">
            <a:avLst/>
          </a:prstGeom>
          <a:ln w="9525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6159" name="直接连接符 17"/>
          <p:cNvCxnSpPr/>
          <p:nvPr/>
        </p:nvCxnSpPr>
        <p:spPr>
          <a:xfrm>
            <a:off x="1201738" y="3284538"/>
            <a:ext cx="9864725" cy="0"/>
          </a:xfrm>
          <a:prstGeom prst="line">
            <a:avLst/>
          </a:prstGeom>
          <a:ln w="9525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18" name="图片 1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7345" y="943854"/>
            <a:ext cx="4220005" cy="802395"/>
          </a:xfrm>
          <a:prstGeom prst="rect">
            <a:avLst/>
          </a:prstGeom>
        </p:spPr>
      </p:pic>
    </p:spTree>
  </p:cSld>
  <p:clrMapOvr>
    <a:masterClrMapping/>
  </p:clrMapOvr>
  <p:transition spd="slow" advTm="7871"/>
  <p:timing>
    <p:tnLst>
      <p:par>
        <p:cTn id="1" dur="indefinite" restart="never" nodeType="tmRoot"/>
      </p:par>
    </p:tnLst>
    <p:bldLst>
      <p:bldP spid="7171" grpId="0"/>
      <p:bldP spid="7174" grpId="0"/>
      <p:bldP spid="7181" grpId="0" bldLvl="0" animBg="1"/>
    </p:bldLst>
  </p:timing>
</p:sld>
</file>

<file path=ppt/tags/tag1.xml><?xml version="1.0" encoding="utf-8"?>
<p:tagLst xmlns:p="http://schemas.openxmlformats.org/presentationml/2006/main">
  <p:tag name="KSO_WM_DIAGRAM_VIRTUALLY_FRAME" val="{&quot;height&quot;:54.02820970459875,&quot;left&quot;:380.05,&quot;top&quot;:304.15,&quot;width&quot;:223.87503937007878}"/>
</p:tagLst>
</file>

<file path=ppt/tags/tag2.xml><?xml version="1.0" encoding="utf-8"?>
<p:tagLst xmlns:p="http://schemas.openxmlformats.org/presentationml/2006/main">
  <p:tag name="TABLE_ENDDRAG_ORIGIN_RECT" val="447*182"/>
  <p:tag name="TABLE_ENDDRAG_RECT" val="490*78*447*182"/>
</p:tagLst>
</file>

<file path=ppt/tags/tag3.xml><?xml version="1.0" encoding="utf-8"?>
<p:tagLst xmlns:p="http://schemas.openxmlformats.org/presentationml/2006/main">
  <p:tag name="TABLE_ENDDRAG_ORIGIN_RECT" val="825*122"/>
  <p:tag name="TABLE_ENDDRAG_RECT" val="55*253*825*122"/>
</p:tagLst>
</file>

<file path=ppt/theme/theme1.xml><?xml version="1.0" encoding="utf-8"?>
<a:theme xmlns:a="http://schemas.openxmlformats.org/drawingml/2006/main" name="1">
  <a:themeElements>
    <a:clrScheme name="">
      <a:dk1>
        <a:srgbClr val="004C54"/>
      </a:dk1>
      <a:lt1>
        <a:srgbClr val="009EB0"/>
      </a:lt1>
      <a:dk2>
        <a:srgbClr val="DDDDDD"/>
      </a:dk2>
      <a:lt2>
        <a:srgbClr val="808080"/>
      </a:lt2>
      <a:accent1>
        <a:srgbClr val="292929"/>
      </a:accent1>
      <a:accent2>
        <a:srgbClr val="FFFFFF"/>
      </a:accent2>
      <a:accent3>
        <a:srgbClr val="AACCD4"/>
      </a:accent3>
      <a:accent4>
        <a:srgbClr val="004046"/>
      </a:accent4>
      <a:accent5>
        <a:srgbClr val="ACACAC"/>
      </a:accent5>
      <a:accent6>
        <a:srgbClr val="E7E7E7"/>
      </a:accent6>
      <a:hlink>
        <a:srgbClr val="B3B3B3"/>
      </a:hlink>
      <a:folHlink>
        <a:srgbClr val="404040"/>
      </a:folHlink>
    </a:clrScheme>
    <a:fontScheme name="2_默认设计模板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FDEF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4ECF8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默认设计模板 13">
        <a:dk1>
          <a:srgbClr val="000000"/>
        </a:dk1>
        <a:lt1>
          <a:srgbClr val="FFFFD9"/>
        </a:lt1>
        <a:dk2>
          <a:srgbClr val="2B2E30"/>
        </a:dk2>
        <a:lt2>
          <a:srgbClr val="777777"/>
        </a:lt2>
        <a:accent1>
          <a:srgbClr val="7FBA00"/>
        </a:accent1>
        <a:accent2>
          <a:srgbClr val="FCDB00"/>
        </a:accent2>
        <a:accent3>
          <a:srgbClr val="FFFFE9"/>
        </a:accent3>
        <a:accent4>
          <a:srgbClr val="000000"/>
        </a:accent4>
        <a:accent5>
          <a:srgbClr val="C0D9AA"/>
        </a:accent5>
        <a:accent6>
          <a:srgbClr val="E4C600"/>
        </a:accent6>
        <a:hlink>
          <a:srgbClr val="21A3D0"/>
        </a:hlink>
        <a:folHlink>
          <a:srgbClr val="DA251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">
  <a:themeElements>
    <a:clrScheme name="">
      <a:dk1>
        <a:srgbClr val="004C54"/>
      </a:dk1>
      <a:lt1>
        <a:srgbClr val="009EB0"/>
      </a:lt1>
      <a:dk2>
        <a:srgbClr val="DDDDDD"/>
      </a:dk2>
      <a:lt2>
        <a:srgbClr val="808080"/>
      </a:lt2>
      <a:accent1>
        <a:srgbClr val="292929"/>
      </a:accent1>
      <a:accent2>
        <a:srgbClr val="FFFFFF"/>
      </a:accent2>
      <a:accent3>
        <a:srgbClr val="AACCD4"/>
      </a:accent3>
      <a:accent4>
        <a:srgbClr val="004046"/>
      </a:accent4>
      <a:accent5>
        <a:srgbClr val="ACACAC"/>
      </a:accent5>
      <a:accent6>
        <a:srgbClr val="E7E7E7"/>
      </a:accent6>
      <a:hlink>
        <a:srgbClr val="B3B3B3"/>
      </a:hlink>
      <a:folHlink>
        <a:srgbClr val="404040"/>
      </a:folHlink>
    </a:clrScheme>
    <a:fontScheme name="3_默认设计模板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3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FDEF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4ECF8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默认设计模板 13">
        <a:dk1>
          <a:srgbClr val="000000"/>
        </a:dk1>
        <a:lt1>
          <a:srgbClr val="FFFFD9"/>
        </a:lt1>
        <a:dk2>
          <a:srgbClr val="2B2E30"/>
        </a:dk2>
        <a:lt2>
          <a:srgbClr val="777777"/>
        </a:lt2>
        <a:accent1>
          <a:srgbClr val="7FBA00"/>
        </a:accent1>
        <a:accent2>
          <a:srgbClr val="FCDB00"/>
        </a:accent2>
        <a:accent3>
          <a:srgbClr val="FFFFE9"/>
        </a:accent3>
        <a:accent4>
          <a:srgbClr val="000000"/>
        </a:accent4>
        <a:accent5>
          <a:srgbClr val="C0D9AA"/>
        </a:accent5>
        <a:accent6>
          <a:srgbClr val="E4C600"/>
        </a:accent6>
        <a:hlink>
          <a:srgbClr val="21A3D0"/>
        </a:hlink>
        <a:folHlink>
          <a:srgbClr val="DA251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3424</Words>
  <Application>WPS 演示</Application>
  <PresentationFormat>自定义</PresentationFormat>
  <Paragraphs>245</Paragraphs>
  <Slides>18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34" baseType="lpstr">
      <vt:lpstr>Arial</vt:lpstr>
      <vt:lpstr>宋体</vt:lpstr>
      <vt:lpstr>Wingdings</vt:lpstr>
      <vt:lpstr>微软雅黑</vt:lpstr>
      <vt:lpstr>仿宋_GB2312</vt:lpstr>
      <vt:lpstr>仿宋</vt:lpstr>
      <vt:lpstr>Calibri</vt:lpstr>
      <vt:lpstr>Arial Unicode MS</vt:lpstr>
      <vt:lpstr>Calibri</vt:lpstr>
      <vt:lpstr>华文细黑</vt:lpstr>
      <vt:lpstr>微软雅黑</vt:lpstr>
      <vt:lpstr>Cambria Math</vt:lpstr>
      <vt:lpstr>-apple-system</vt:lpstr>
      <vt:lpstr>Segoe Print</vt:lpstr>
      <vt:lpstr>1</vt:lpstr>
      <vt:lpstr>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1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</dc:title>
  <dc:creator>zhite</dc:creator>
  <dc:description>1</dc:description>
  <dc:subject>1</dc:subject>
  <cp:lastModifiedBy>李亦非</cp:lastModifiedBy>
  <cp:revision>11</cp:revision>
  <dcterms:created xsi:type="dcterms:W3CDTF">2013-01-25T01:44:00Z</dcterms:created>
  <dcterms:modified xsi:type="dcterms:W3CDTF">2025-12-24T10:41:30Z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623189580D254FC1B9A9CC6C6AA45C12_13</vt:lpwstr>
  </property>
</Properties>
</file>